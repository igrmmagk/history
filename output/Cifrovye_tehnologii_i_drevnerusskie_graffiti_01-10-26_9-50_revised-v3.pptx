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Добрый день! Меня зовут Кирилл Редько, со мной Данис Абдульминев и Георгий Линчевский. Наша тема — как цифровые технологии помогают читать исторические источники. Мы разберём это на примере древнерусских граффити и проекта лаборатории RSSDA «Эпиграфика Древней Руси XI–XV веков».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Представьте стену древнего храма. Среди камня и штукатурки — буквы, нацарапанные острым предметом. Это может быть запись о смерти близкого человека, дата постройки, а иногда просто правила поведения в церкви. Такие надписи называются граффити, и оставляли их не князья и не летописцы, а самые разные люди, которые бывали в храме. Поэтому граффити — это голос повседневной жизни Древней Руси, которого почти нет в официальных источниках.</a:t>
            </a:r>
          </a:p>
          <a:p>
            <a:endParaRPr/>
          </a:p>
          <a:p>
            <a:r>
              <a:t>Но читать эти надписи очень трудно. Буквы бывают меньше трёх миллиметров, а глубина царапины часто не больше двух-трёх десятых миллиметра. Глазом такое разглядеть почти невозможно, особенно на неровном камне.</a:t>
            </a:r>
          </a:p>
          <a:p>
            <a:endParaRPr/>
          </a:p>
          <a:p>
            <a:r>
              <a:t>Здесь на помощь приходят цифровые технологии, в частности компьютерное зрение. Это область, в которой компьютер учат «понимать» изображения: например, по обычным фотографиям восстанавливать объёмную форму предмета. Именно так устроен наш проект.</a:t>
            </a:r>
          </a:p>
          <a:p>
            <a:endParaRPr/>
          </a:p>
          <a:p>
            <a:r>
              <a:t>Почему это важно? Чтобы сохранить хрупкие надписи и читать их точнее. Тема будет интересна историкам и лингвистам, музейщикам и реставраторам, специалистам по 3D-технологиям, а также всем, кому любопытно, что писали люди много веков назад. Для нас, студентов, это удобный пример того, как на практике работает цифровая история.</a:t>
            </a:r>
          </a:p>
          <a:p>
            <a:br/>
            <a:br/>
            <a:r>
              <a:t>Изображение: Лаборатория RSSDA,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Наш план такой. Сначала я расскажу, что это за проект: когда и кем он создан, какая у него цель и для кого он сделан. Потом Данис расскажет об источниках — о самих надписях — и объяснит, как работает цифровая часть: фотограмметрия и трёхмерные модели. Затем Георгий обсудит, как проект меняет наше восприятие прошлого, назовёт ограничения, выскажет наше мнение и подведёт три главных вывода. Всё вместе займёт около четырнадцати минут.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Итак, проект называется «Эпиграфика Древней Руси XI–XV веков». Его ведёт Лаборатория RSSDA. Полную расшифровку названия лаборатории на странице проекта не приводят, поэтому мы будем называть её просто RSSDA.</a:t>
            </a:r>
          </a:p>
          <a:p>
            <a:endParaRPr/>
          </a:p>
          <a:p>
            <a:r>
              <a:t>Когда и кем он создан? Документирование надписей началось в 2017 году: в апреле и мае — в Переславле-Залесском, в октябре — в Можайске. Страница проекта создана в рамках гранта Российского научного фонда номер 19-18-00352. Проект ведётся вместе с двумя исследователями: Алексеем Александровичем Гиппиусом из Высшей школы экономики и Сергеем Михайловичем Михеевым из Института славяноведения РАН. Они читают тексты и делают прориси. А документированием и созданием 3D-моделей занимаются Ю. М. Свойский и Е. В. Романенко.</a:t>
            </a:r>
          </a:p>
          <a:p>
            <a:endParaRPr/>
          </a:p>
          <a:p>
            <a:r>
              <a:t>Заметьте, что работа началась ещё в 2017 году и шла в нескольких городах: от Переславля-Залесского и Можайска до Галича. Это не эксперимент одного семестра, а многолетняя работа. Эпиграфика — это наука о надписях на твёрдых материалах: камне, металле, штукатурке. «Некнижная» письменность — то, что писали не в книгах, как берестяные грамоты и граффити.</a:t>
            </a:r>
          </a:p>
          <a:p>
            <a:endParaRPr/>
          </a:p>
          <a:p>
            <a:r>
              <a:t>Цель проекта, как сказано на странице, — разработка методов, инструментов и процедур документирования и визуализации эпиграфических памятников. Проще говоря: придумать, как надёжно зафиксировать и показать надпись, которую почти не видно. Если сформулировать миссию своими словами: сохранить такие следы прошлого и сделать их доступными для чтения.</a:t>
            </a:r>
          </a:p>
          <a:p>
            <a:endParaRPr/>
          </a:p>
          <a:p>
            <a:r>
              <a:t>Аудиторию сайт прямо не называет, но из содержания она понятна. Это прежде всего историки, филологи и эпиграфисты. Затем специалисты по 3D-документированию и музейщики. И, наконец, читатели, которым интересна древнерусская письменность.</a:t>
            </a:r>
          </a:p>
          <a:p>
            <a:endParaRPr/>
          </a:p>
          <a:p>
            <a:r>
              <a:t>Какие именно это надписи и как они оцифрованы, расскажет Данис. Данис, тебе слово.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Кирилл. Начнём с источников. Проект работает с древнерусскими граффити и другими надписями на камне и штукатурке. На странице сказано: документировано семьдесят пять поверхностей с древнерусскими надписями. Они находятся в Великом Новгороде, в Спасо-Преображенском соборе Переславля-Залесского и в церкви святого Пантелеймона близ Галича — это Ивано-Франковская область Украины. Отдельно документированы две плиты-вставки в церкви Петра и Павла в Можайске и три памятника монументальной эпиграфики, которые хранятся в музеях.</a:t>
            </a:r>
          </a:p>
          <a:p>
            <a:endParaRPr/>
          </a:p>
          <a:p>
            <a:r>
              <a:t>Что это за надписи? Приведу примеры. В Переславле-Залесском — надпись об убийстве Андрея Боголюбского в 1174 году. В Галиче — записи о смерти Ульяны в 1217 году и Богдана в 1229 году. В Можайске — датированная надпись 1541 года о строительстве паперти и надпись о правилах поведения в храме.</a:t>
            </a:r>
          </a:p>
          <a:p>
            <a:endParaRPr/>
          </a:p>
          <a:p>
            <a:r>
              <a:t>Особенности источника: это личные, неофициальные записи; они привязаны к месту и часто содержат даты, поэтому помогают понять историю самого храма; и они выполнены на белом камне, штукатурке и мягком камне.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Почему такие надписи не прочитать просто по фотографии? Вот главные причины. Размер, глубину, сохранность и материал называет сам проект, а про свет и тень — уже наше пояснение.</a:t>
            </a:r>
          </a:p>
          <a:p>
            <a:endParaRPr/>
          </a:p>
          <a:p>
            <a:r>
              <a:t>Первая — размер: буквы иногда меньше трёх миллиметров.</a:t>
            </a:r>
          </a:p>
          <a:p>
            <a:endParaRPr/>
          </a:p>
          <a:p>
            <a:r>
              <a:t>Вторая — глубина: гравировка часто не превышает двух-трёх десятых миллиметра, то есть царапина почти не отличается от неровностей камня.</a:t>
            </a:r>
          </a:p>
          <a:p>
            <a:endParaRPr/>
          </a:p>
          <a:p>
            <a:r>
              <a:t>Третья — сохранность: часть букв утрачена или сохранилась не полностью. Учёные даже вводят условные знаки. Квадратные скобки означают неполностью сохранившиеся буквы, круглые — предполагаемые, то есть конъектуры, тире — утраченные, многоточие — неизвестное число непрочитанных.</a:t>
            </a:r>
          </a:p>
          <a:p>
            <a:endParaRPr/>
          </a:p>
          <a:p>
            <a:r>
              <a:t>Четвёртая — материал: камень и штукатурка неровные, свет падает по-разному, и тень легко принять за букву.</a:t>
            </a:r>
          </a:p>
          <a:p>
            <a:endParaRPr/>
          </a:p>
          <a:p>
            <a:r>
              <a:t>Проще говоря, глаз ищет цвет и контраст, а здесь важна форма. Поэтому исследователи сначала переводят надпись в объём, а уже потом читают. Поэтому нужна технология, которая покажет не цвет, а рельеф.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Как же устроена цифровая часть? Она построена на фотограмметрии. Это метод компьютерного зрения, при котором по множеству обычных фотографий программа восстанавливает трёхмерную форму объекта: она находит одни и те же точки на разных снимках, вычисляет, откуда снимали, и строит форму. Сам сайт термин «компьютерное зрение» не использует, отнесение к жанру — наше.</a:t>
            </a:r>
          </a:p>
          <a:p>
            <a:endParaRPr/>
          </a:p>
          <a:p>
            <a:r>
              <a:t>Шаг первый. Надпись фотографируют в высоком разрешении. Нужно от ста до тысячи снимков — в зависимости от глубины гравировки.</a:t>
            </a:r>
          </a:p>
          <a:p>
            <a:endParaRPr/>
          </a:p>
          <a:p>
            <a:r>
              <a:t>Шаг второй. По фотографиям строится трёхмерная полигональная модель поверхности.</a:t>
            </a:r>
          </a:p>
          <a:p>
            <a:endParaRPr/>
          </a:p>
          <a:p>
            <a:r>
              <a:t>Шаг третий. На основе модели получают карты высот — растровые изображения, где рельеф передан оттенками.</a:t>
            </a:r>
          </a:p>
          <a:p>
            <a:endParaRPr/>
          </a:p>
          <a:p>
            <a:r>
              <a:t>Шаг четвёртый. Математические алгоритмы по-разному окрашивают модель, присваивая отдельным её частям цвет, и слабая царапина становится видна.</a:t>
            </a:r>
          </a:p>
          <a:p>
            <a:endParaRPr/>
          </a:p>
          <a:p>
            <a:r>
              <a:t>Важно и то, что модель можно освещать виртуально с любой стороны. Как в любой 3D-модели, это можно сделать на компьютере. В реальной церкви свет ограничен окнами и временем суток, а в модели учёный может включить боковой свет под любым углом и увидеть, как ложится тень в каждой борозде.</a:t>
            </a:r>
          </a:p>
          <a:p>
            <a:endParaRPr/>
          </a:p>
          <a:p>
            <a:r>
              <a:t>И наконец, читают уже по модели и картам высот, а исследователь делает прорись — то есть точный контурный рисунок надписи.</a:t>
            </a:r>
          </a:p>
          <a:p>
            <a:endParaRPr/>
          </a:p>
          <a:p>
            <a:r>
              <a:t>Честно скажем: нейросети на странице проекта не упоминаются. Компьютер здесь не читает за учёного, а даёт ему инструмент, чтобы увидеть надпись.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Что в итоге получает пользователь? Проект публикует надписи в нескольких форматах: прориси, трёхмерные модели пониженного разрешения, растровые изображения карт высот. Для надписей публикуются описания и чтения, а условные знаки объясняют, где буква сохранилась не полностью.</a:t>
            </a:r>
          </a:p>
          <a:p>
            <a:endParaRPr/>
          </a:p>
          <a:p>
            <a:r>
              <a:t>Отдельные страницы посвящены Переславлю-Залесскому, Галичу и Можайску. Главное, читатель видит не только вывод учёного, но и модель, по которой он сделан, и может сравнить чтение с моделью или картой высот. Теперь передаю слово Георгию, который расскажет, что всё это значит для нашего понимания прошлого.</a:t>
            </a:r>
          </a:p>
          <a:p>
            <a:br/>
            <a:br/>
            <a:r>
              <a:t>Изображения: Лаборатория RSSDA, модель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Спасибо, Данис. Теперь главный вопрос: как такой проект меняет наш взгляд на прошлое? Я вижу пять эффектов.</a:t>
            </a:r>
          </a:p>
          <a:p>
            <a:endParaRPr/>
          </a:p>
          <a:p>
            <a:r>
              <a:t>Во-первых, прошлое становится нагляднее. Мы видим не только текст расшифровки, но и саму царапину, её объём. Карта высот показывает то, что скрыто от глаза.</a:t>
            </a:r>
          </a:p>
          <a:p>
            <a:endParaRPr/>
          </a:p>
          <a:p>
            <a:r>
              <a:t>Во-вторых, прошлое становится ближе и эмоциональнее. Граффити сохраняют «голоса» людей, оставивших личные и памятные записи. Благодаря этому Древняя Русь воспринимается не только через даты и князей, но и через конкретные действия и тексты. Даже надпись об убийстве князя Андрея Боголюбского — это не строки летописи, а запись на стене храма.</a:t>
            </a:r>
          </a:p>
          <a:p>
            <a:endParaRPr/>
          </a:p>
          <a:p>
            <a:r>
              <a:t>В-третьих, прошлое становится сложнее и честнее. Условные знаки в скобках прямо показывают, где учёный уверен, а где нет. Источник — это не готовая истина, а материал для интерпретации.</a:t>
            </a:r>
          </a:p>
          <a:p>
            <a:endParaRPr/>
          </a:p>
          <a:p>
            <a:r>
              <a:t>В-четвёртых, цифровая копия сохраняется. Камень выветривается, штукатурка осыпается, храмы реставрируют, а трёхмерная модель фиксирует состояние надписи на момент съёмки. Для будущих исследователей это своего рода консервация.</a:t>
            </a:r>
          </a:p>
          <a:p>
            <a:endParaRPr/>
          </a:p>
          <a:p>
            <a:r>
              <a:t>И в-пятых, изменяется проверяемость. Когда доступны модели и карты высот, можно перепроверить чтение, а не просто поверить автору.</a:t>
            </a:r>
          </a:p>
          <a:p>
            <a:br/>
            <a:br/>
            <a:r>
              <a:t>Изображение: Лаборатория RSSDA, прорись GR0001, https://rssda.su/projects/ep-rus/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Есть и ограничения. Первое: проект пока небольшой — семьдесят пять поверхностей в трёх городах, а древнерусских надписей, по нашему мнению, значительно больше. Второе: это не автоматическое чтение. Надписи по-прежнему читают специалисты, а технология лишь помогает их увидеть; для нас это плюс, но тем, кто ожидает «искусственного интеллекта», может показаться скромно. Третье: фотограмметрия требует от ста до тысячи снимков на надпись и хорошей съёмки, то есть это трудоёмкая работа. Четвёртое: условные знаки и специальная терминология требуют подготовки читателя. И наконец, качество результата зависит от качества съёмки: плохие фотографии дают плохую модель.</a:t>
            </a:r>
          </a:p>
          <a:p>
            <a:endParaRPr/>
          </a:p>
          <a:p>
            <a:r>
              <a:t>Мы оцениваем проект по тому, что уже опубликовано на странице, и не судим о том, чего там пока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А теперь наше мнение. Мы рекомендуем этот проект однокурсникам, и вот почему.</a:t>
            </a:r>
          </a:p>
          <a:p>
            <a:endParaRPr/>
          </a:p>
          <a:p>
            <a:r>
              <a:t>Первая причина: это очень наглядный пример того, как технологии решают конкретную историческую задачу. Не абстрактный цифровой инструмент, а способ увидеть царапину глубиной в доли миллиметра.</a:t>
            </a:r>
          </a:p>
          <a:p>
            <a:endParaRPr/>
          </a:p>
          <a:p>
            <a:r>
              <a:t>Вторая причина: необычная тема. Надписи дополняют привычные летописи и другие книжные источники конкретными именами, событиями и памятными записями.</a:t>
            </a:r>
          </a:p>
          <a:p>
            <a:endParaRPr/>
          </a:p>
          <a:p>
            <a:r>
              <a:t>Третья причина: проект честный. Он показывает и результат, и модель, и условные знаки неуверенности.</a:t>
            </a:r>
          </a:p>
          <a:p>
            <a:endParaRPr/>
          </a:p>
          <a:p>
            <a:r>
              <a:t>Из минусов: язык научный, и такие термины, как «конъектура», «прорись» и «полигональная модель», требуют пояснения. Но как отправная точка проект очень ценен. Мы советуем начать со страниц Переславля-Залесского, Галича и Можайска: там есть конкретные надписи с прорисями и моделями.</a:t>
            </a:r>
          </a:p>
          <a:p>
            <a:endParaRPr/>
          </a:p>
          <a:p>
            <a:r>
              <a:t>Кроме того, проект хорошо подходит для нашего курса: он показывает сразу три вещи — жанр компьютерного зрения, конкретный тип источника и то, как цифровые методы меняют работу историка. Он не требует знаний программирования, достаточно любопытства. Если вы выбираете, на что посмотреть, чтобы понять, что такое цифровая история, это хороший выбор.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Подведём итог. Есть три вывода, которые мы хотим, чтобы вы запомнили.</a:t>
            </a:r>
          </a:p>
          <a:p>
            <a:endParaRPr/>
          </a:p>
          <a:p>
            <a:r>
              <a:t>Первый. Граффити — уникальный исторический источник, но читать его трудно: буквы мелкие, глубина царапины доли миллиметра.</a:t>
            </a:r>
          </a:p>
          <a:p>
            <a:endParaRPr/>
          </a:p>
          <a:p>
            <a:r>
              <a:t>Второй. Компьютерное зрение, в данном случае фотограмметрия и карты высот, помогает увидеть такие надписи, но читает их по-прежнему учёный.</a:t>
            </a:r>
          </a:p>
          <a:p>
            <a:endParaRPr/>
          </a:p>
          <a:p>
            <a:r>
              <a:t>Третий. Цифровые проекты делают прошлое нагляднее и проверяемее, но требуют критического отношения и не заменяют работу историка.</a:t>
            </a:r>
          </a:p>
          <a:p>
            <a:endParaRPr/>
          </a:p>
          <a:p>
            <a:r>
              <a:t>Если совсем коротко: чтобы прочитать царапину в доли миллиметра, нужны и камера, и алгоритм, и историк. Технология без учёного не читает, а учёный без технологии не видит.</a:t>
            </a:r>
          </a:p>
          <a:p>
            <a:endParaRPr/>
          </a:p>
          <a:p>
            <a:r>
              <a:t>Спасибо за внимание! Мы готовы ответить на ваши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Без текста. Слайд остаётся на экране на время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E3D42CE-E84B-49D6-BA15-D72C8350D29D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3A5B9B4-8909-4C22-9742-C01F0BB35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1F2C08C-0025-42FB-9656-44645D7B8F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CC3D78EB-DE6E-4B06-BCE5-D563A6DFABA7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76C965A2-E6E3-4B1A-9AEB-C74545958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21266AB-8207-49EB-B080-7042B21488D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4EC92DF5-C34C-467C-B7FA-0D044DC8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99405DB8-AFAF-43AC-9310-D54C67BFE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7A9FA904-1E1B-48FE-B727-52A67599DE9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6BD74A3-A544-4FB8-B0B7-FD4DE3F54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420E9C9-4A7E-4C36-945D-3FBBDC74D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D96418DC-32B9-478C-B1E3-8050566A5C1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CB24016-18D9-452E-903E-2A0210FD286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143B70A2-FD18-41B8-B08D-59D6830CB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3B0462C4-E2B3-4894-AD68-84C5C896A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CBDF861-07F6-4049-B89E-BE34CA3F88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5810250" cy="6858000"/>
          </a:xfrm>
          <a:prstGeom prst="rect">
            <a:avLst/>
          </a:prstGeom>
          <a:solidFill>
            <a:srgbClr val="172633">
              <a:alpha val="86667"/>
            </a:srgbClr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2336D69-0A08-459D-9E82-3F88E9C23BE3}"/>
              </a:ext>
            </a:extLst>
          </p:cNvPr>
          <p:cNvSpPr>
            <a:spLocks noGrp="1"/>
          </p:cNvSpPr>
          <p:nvPr/>
        </p:nvSpPr>
        <p:spPr>
          <a:xfrm>
            <a:off x="685800" y="714375"/>
            <a:ext cx="4762500" cy="22383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9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цифровые технологии помогают читать исторические источники?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9C80CD-A386-456D-BC64-8E62B022DA60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4762500" cy="10001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F4EFE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F4EFE6"/>
                </a:solidFill>
                <a:latin typeface="Arial"/>
                <a:ea typeface="Arial"/>
                <a:cs typeface="Arial"/>
              </a:rPr>
              <a:t>Древнерусские граффити и проект «Эпиграфика Древней Руси XI–XV веков»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ED6DC04-55C2-4461-AEAF-66DCF1A005AA}"/>
              </a:ext>
            </a:extLst>
          </p:cNvPr>
          <p:cNvSpPr>
            <a:spLocks noGrp="1"/>
          </p:cNvSpPr>
          <p:nvPr/>
        </p:nvSpPr>
        <p:spPr>
          <a:xfrm>
            <a:off x="685800" y="4206240"/>
            <a:ext cx="4762500" cy="8686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Выступление: 01.10.26, 9:50 (13–15 мин)</a:t>
            </a:r>
          </a:p>
          <a:p>
            <a:pPr algn="l">
              <a:defRPr sz="13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Жанр: компьютерное зрение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B1F5296-2256-4E5C-A2B1-3DFCBC184DA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Участники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Редько Кирилл · Абдульминев Данис</a:t>
            </a:r>
          </a:p>
          <a:p>
            <a:pPr algn="l">
              <a:defRPr sz="13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Линчевский Георгий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F4BB478-FB3E-4919-8E72-6E038AC363F4}"/>
              </a:ext>
            </a:extLst>
          </p:cNvPr>
          <p:cNvSpPr>
            <a:spLocks noGrp="1"/>
          </p:cNvSpPr>
          <p:nvPr/>
        </p:nvSpPr>
        <p:spPr>
          <a:xfrm>
            <a:off x="685800" y="6438900"/>
            <a:ext cx="475488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l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8D0D8"/>
                </a:solidFill>
                <a:latin typeface="Arial"/>
                <a:ea typeface="Arial"/>
                <a:cs typeface="Arial"/>
              </a:rPr>
              <a:t>01 · </a:t>
            </a:r>
            <a:r>
              <a:rPr sz="1200" b="1" i="0">
                <a:solidFill>
                  <a:srgbClr val="B5812E"/>
                </a:solidFill>
                <a:latin typeface="Arial"/>
                <a:ea typeface="Arial"/>
                <a:cs typeface="Arial"/>
              </a:rPr>
              <a:t>К. Редько</a:t>
            </a:r>
            <a:r>
              <a:rPr sz="1200" b="0" i="0">
                <a:solidFill>
                  <a:srgbClr val="C8D0D8"/>
                </a:solidFill>
                <a:latin typeface="Arial"/>
                <a:ea typeface="Arial"/>
                <a:cs typeface="Arial"/>
              </a:rPr>
              <a:t> · Фон: иллюстрация</a:t>
            </a:r>
          </a:p>
        </p:txBody>
      </p:sp>
    </p:spTree>
    <p:extLst>
      <p:ext uri="{BB962C8B-B14F-4D97-AF65-F5344CB8AC3E}">
        <p14:creationId xmlns:p14="http://schemas.microsoft.com/office/powerpoint/2010/main" val="1219747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70688C-FCC7-4A34-8BFC-91C0C068ECD1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Зачем читать граффити?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CFD1B38-6C6C-4B54-BFC7-F6E9C2C46A68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E912BA6-0EBE-4BAB-8B06-F930F5F4A34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02 · </a:t>
            </a:r>
            <a:r>
              <a:rPr sz="1200" b="1" i="0">
                <a:solidFill>
                  <a:srgbClr val="B5812E"/>
                </a:solidFill>
                <a:latin typeface="Arial"/>
                <a:ea typeface="Arial"/>
                <a:cs typeface="Arial"/>
              </a:rPr>
              <a:t>К. Редько</a:t>
            </a: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 · Изображения: Лаборатория RSSDA, rssda.su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l="13991" r="13991"/>
          <a:stretch>
            <a:fillRect/>
          </a:stretch>
        </p:blipFill>
        <p:spPr>
          <a:xfrm>
            <a:off x="666750" y="1381125"/>
            <a:ext cx="4572000" cy="4191000"/>
          </a:xfrm>
          <a:prstGeom prst="roundRect">
            <a:avLst>
              <a:gd name="adj" fmla="val 4545"/>
            </a:avLst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0EDE764B-63CB-4657-86D3-357773EA7BBD}"/>
              </a:ext>
            </a:extLst>
          </p:cNvPr>
          <p:cNvSpPr>
            <a:spLocks noGrp="1"/>
          </p:cNvSpPr>
          <p:nvPr/>
        </p:nvSpPr>
        <p:spPr>
          <a:xfrm>
            <a:off x="3886200" y="3667125"/>
            <a:ext cx="971550" cy="971550"/>
          </a:xfrm>
          <a:prstGeom prst="ellipse">
            <a:avLst/>
          </a:prstGeom>
          <a:solidFill>
            <a:srgbClr val="FFFFFF">
              <a:alpha val="13333"/>
            </a:srgbClr>
          </a:solidFill>
          <a:ln w="14288">
            <a:solidFill>
              <a:srgbClr val="C9A66B"/>
            </a:solidFill>
          </a:ln>
        </p:spPr>
        <p:txBody>
          <a:bodyPr/>
          <a:p/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BDAEF960-BB72-4B3D-A08B-48821A6428DD}"/>
              </a:ext>
            </a:extLst>
          </p:cNvPr>
          <p:cNvSpPr>
            <a:spLocks noGrp="1"/>
          </p:cNvSpPr>
          <p:nvPr/>
        </p:nvSpPr>
        <p:spPr>
          <a:xfrm>
            <a:off x="4629150" y="4429125"/>
            <a:ext cx="704850" cy="704850"/>
          </a:xfrm>
          <a:prstGeom prst="line">
            <a:avLst/>
          </a:prstGeom>
          <a:noFill/>
          <a:ln w="85725">
            <a:solidFill>
              <a:srgbClr val="C9A66B"/>
            </a:solidFill>
          </a:ln>
        </p:spPr>
        <p:txBody>
          <a:bodyPr/>
          <a:p/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BDA3E25-9854-4E27-9F6A-9780B58218C8}"/>
              </a:ext>
            </a:extLst>
          </p:cNvPr>
          <p:cNvSpPr>
            <a:spLocks noGrp="1"/>
          </p:cNvSpPr>
          <p:nvPr/>
        </p:nvSpPr>
        <p:spPr>
          <a:xfrm>
            <a:off x="5762625" y="142875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 ЧЁМ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B4E13A-C8A4-4081-8630-CC981CAD7DA6}"/>
              </a:ext>
            </a:extLst>
          </p:cNvPr>
          <p:cNvSpPr>
            <a:spLocks noGrp="1"/>
          </p:cNvSpPr>
          <p:nvPr/>
        </p:nvSpPr>
        <p:spPr>
          <a:xfrm>
            <a:off x="5762625" y="173355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lang="ru-RU" sz="1725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царапанные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камне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и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штукатурке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храмов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8018508-72DF-43BC-BFF5-08FC005FE04F}"/>
              </a:ext>
            </a:extLst>
          </p:cNvPr>
          <p:cNvSpPr>
            <a:spLocks noGrp="1"/>
          </p:cNvSpPr>
          <p:nvPr/>
        </p:nvSpPr>
        <p:spPr>
          <a:xfrm>
            <a:off x="5762625" y="2600325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1F7FA3C-F08B-4485-B038-0F3308F9CE8A}"/>
              </a:ext>
            </a:extLst>
          </p:cNvPr>
          <p:cNvSpPr>
            <a:spLocks noGrp="1"/>
          </p:cNvSpPr>
          <p:nvPr/>
        </p:nvSpPr>
        <p:spPr>
          <a:xfrm>
            <a:off x="5762625" y="2809875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ЗАЧЕМ ИЗУЧАТЬ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06CE50A4-F88A-4C0B-A5DE-47694D546801}"/>
              </a:ext>
            </a:extLst>
          </p:cNvPr>
          <p:cNvSpPr>
            <a:spLocks noGrp="1"/>
          </p:cNvSpPr>
          <p:nvPr/>
        </p:nvSpPr>
        <p:spPr>
          <a:xfrm>
            <a:off x="5762625" y="3114675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Имена, события и повседневные практики вне книжной традиции</a:t>
            </a:r>
          </a:p>
        </p:txBody>
      </p:sp>
      <p:sp>
        <p:nvSpPr>
          <p:cNvPr id="12" name="Прямая соединительная линия 11">
            <a:extLst>
              <a:ext uri="{FF2B5EF4-FFF2-40B4-BE49-F238E27FC236}">
                <a16:creationId xmlns:a16="http://schemas.microsoft.com/office/drawing/2014/main" id="{84BC8CD0-B82A-4DD3-87F1-8912A9E6B4A8}"/>
              </a:ext>
            </a:extLst>
          </p:cNvPr>
          <p:cNvSpPr>
            <a:spLocks noGrp="1"/>
          </p:cNvSpPr>
          <p:nvPr/>
        </p:nvSpPr>
        <p:spPr>
          <a:xfrm>
            <a:off x="5762625" y="3981450"/>
            <a:ext cx="528637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75E0493-7CEB-4E2D-8635-1F9E272BF873}"/>
              </a:ext>
            </a:extLst>
          </p:cNvPr>
          <p:cNvSpPr>
            <a:spLocks noGrp="1"/>
          </p:cNvSpPr>
          <p:nvPr/>
        </p:nvSpPr>
        <p:spPr>
          <a:xfrm>
            <a:off x="5762625" y="4191000"/>
            <a:ext cx="528637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12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КОМУ ИНТЕРЕСНО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7F95EB9-88C7-4F22-A391-128D609971C1}"/>
              </a:ext>
            </a:extLst>
          </p:cNvPr>
          <p:cNvSpPr>
            <a:spLocks noGrp="1"/>
          </p:cNvSpPr>
          <p:nvPr/>
        </p:nvSpPr>
        <p:spPr>
          <a:xfrm>
            <a:off x="5762625" y="4495800"/>
            <a:ext cx="5286375" cy="8096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Историкам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лингвистам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музейщикам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специалистам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</a:t>
            </a:r>
            <a:r>
              <a:rPr sz="1725" b="0" i="0" dirty="0">
                <a:solidFill>
                  <a:srgbClr val="1D252B"/>
                </a:solidFill>
                <a:latin typeface="Arial"/>
                <a:ea typeface="Arial"/>
                <a:cs typeface="Arial"/>
              </a:rPr>
              <a:t> 3D, </a:t>
            </a:r>
            <a:r>
              <a:rPr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студ</a:t>
            </a:r>
            <a:r>
              <a:rPr lang="ru-RU" sz="1725" b="0" i="0" dirty="0" err="1">
                <a:solidFill>
                  <a:srgbClr val="1D252B"/>
                </a:solidFill>
                <a:latin typeface="Arial"/>
                <a:ea typeface="Arial"/>
                <a:cs typeface="Arial"/>
              </a:rPr>
              <a:t>ентам</a:t>
            </a:r>
            <a:endParaRPr sz="1725" b="0" i="0" dirty="0">
              <a:solidFill>
                <a:srgbClr val="1D252B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8291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9FE1CFE-FA64-47B3-845F-A92472908123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План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E2359F86-F5C5-484C-A6F0-C16394242BBC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5C42A51-25D1-4103-B601-4537C4008B1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03 · </a:t>
            </a:r>
            <a:r>
              <a:rPr sz="1200" b="1" i="0">
                <a:solidFill>
                  <a:srgbClr val="B5812E"/>
                </a:solidFill>
                <a:latin typeface="Arial"/>
                <a:ea typeface="Arial"/>
                <a:cs typeface="Arial"/>
              </a:rPr>
              <a:t>К. Редько</a:t>
            </a:r>
          </a:p>
        </p:txBody>
      </p:sp>
      <p:sp>
        <p:nv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41049B2D-6B60-4EF3-BD41-8FA8E82BCB3C}"/>
              </a:ext>
            </a:extLst>
          </p:cNvPr>
          <p:cNvSpPr>
            <a:spLocks noGrp="1"/>
          </p:cNvSpPr>
          <p:nvPr/>
        </p:nvSpPr>
        <p:spPr>
          <a:xfrm>
            <a:off x="1238250" y="3095625"/>
            <a:ext cx="9667875" cy="0"/>
          </a:xfrm>
          <a:prstGeom prst="line">
            <a:avLst/>
          </a:prstGeom>
          <a:noFill/>
          <a:ln w="47625">
            <a:solidFill>
              <a:srgbClr val="CFC4B3"/>
            </a:solidFill>
          </a:ln>
        </p:spPr>
        <p:txBody>
          <a:bodyPr/>
          <a:p/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7ECB6102-3219-4222-BD74-46D350E78902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p/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F4CB883-3675-44E1-B787-7CE98ADD7961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642ED1B2-E167-4A46-A95F-D0EF3A5C7CB7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Что за проект: когда, кто, зачем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B0FC306A-0A5C-4C38-B7DB-5F9B69AC3A83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p/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EB239AE-C193-4827-A3AA-15F879D430F1}"/>
              </a:ext>
            </a:extLst>
          </p:cNvPr>
          <p:cNvSpPr>
            <a:spLocks noGrp="1"/>
          </p:cNvSpPr>
          <p:nvPr/>
        </p:nvSpPr>
        <p:spPr>
          <a:xfrm>
            <a:off x="36004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F48953F-E8F4-4E45-A915-FB8BD4ACB21E}"/>
              </a:ext>
            </a:extLst>
          </p:cNvPr>
          <p:cNvSpPr>
            <a:spLocks noGrp="1"/>
          </p:cNvSpPr>
          <p:nvPr/>
        </p:nvSpPr>
        <p:spPr>
          <a:xfrm>
            <a:off x="30289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Источники: надписи проекта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FBD65A89-3876-4E7D-BFF0-BC548BD37B59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p/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2C5359D-0951-4E6D-8C1B-A24F9061667C}"/>
              </a:ext>
            </a:extLst>
          </p:cNvPr>
          <p:cNvSpPr>
            <a:spLocks noGrp="1"/>
          </p:cNvSpPr>
          <p:nvPr/>
        </p:nvSpPr>
        <p:spPr>
          <a:xfrm>
            <a:off x="58674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EBA4632-DB51-4901-BA9E-57A4A31307EA}"/>
              </a:ext>
            </a:extLst>
          </p:cNvPr>
          <p:cNvSpPr>
            <a:spLocks noGrp="1"/>
          </p:cNvSpPr>
          <p:nvPr/>
        </p:nvSpPr>
        <p:spPr>
          <a:xfrm>
            <a:off x="52959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Фотограмметрия и карты высот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3A9323CB-846C-46D6-AAC3-1D0CC8DDEA7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p/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F50497C-C456-4548-8BE4-CD4EB95862C3}"/>
              </a:ext>
            </a:extLst>
          </p:cNvPr>
          <p:cNvSpPr>
            <a:spLocks noGrp="1"/>
          </p:cNvSpPr>
          <p:nvPr/>
        </p:nvSpPr>
        <p:spPr>
          <a:xfrm>
            <a:off x="813435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39B0A440-C5B9-43A8-BE06-4DFCC5355EBE}"/>
              </a:ext>
            </a:extLst>
          </p:cNvPr>
          <p:cNvSpPr>
            <a:spLocks noGrp="1"/>
          </p:cNvSpPr>
          <p:nvPr/>
        </p:nvSpPr>
        <p:spPr>
          <a:xfrm>
            <a:off x="756285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Как меняется восприятие прошлого</a:t>
            </a:r>
          </a:p>
        </p:txBody>
      </p:sp>
      <p:sp>
        <p:nvSpPr>
          <p:cNvPr id="17" name="Овал 16">
            <a:extLst>
              <a:ext uri="{FF2B5EF4-FFF2-40B4-BE49-F238E27FC236}">
                <a16:creationId xmlns:a16="http://schemas.microsoft.com/office/drawing/2014/main" id="{53D4EA9B-4F55-4A68-9D5A-A1E7ABCD525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/>
          <a:p/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4ECF4810-1D7A-442D-BF58-72A8FFA9EFF6}"/>
              </a:ext>
            </a:extLst>
          </p:cNvPr>
          <p:cNvSpPr>
            <a:spLocks noGrp="1"/>
          </p:cNvSpPr>
          <p:nvPr/>
        </p:nvSpPr>
        <p:spPr>
          <a:xfrm>
            <a:off x="10401300" y="2571750"/>
            <a:ext cx="6858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4B7E860-2206-48F2-B103-803D1AE4288C}"/>
              </a:ext>
            </a:extLst>
          </p:cNvPr>
          <p:cNvSpPr>
            <a:spLocks noGrp="1"/>
          </p:cNvSpPr>
          <p:nvPr/>
        </p:nvSpPr>
        <p:spPr>
          <a:xfrm>
            <a:off x="9829800" y="3476625"/>
            <a:ext cx="1828800" cy="1143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Ограничения, мнение и выводы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B5812E"/>
                </a:solidFill>
                <a:latin typeface="Arial"/>
              </a:rPr>
              <a:t>К. Редько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2895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F6F8F"/>
                </a:solidFill>
                <a:latin typeface="Arial"/>
              </a:rPr>
              <a:t>Д. Абдульминев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59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2F6F8F"/>
                </a:solidFill>
                <a:latin typeface="Arial"/>
              </a:rPr>
              <a:t>Д. Абдульминев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85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A4E9C"/>
                </a:solidFill>
                <a:latin typeface="Arial"/>
              </a:rPr>
              <a:t>Г. Линчевский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4754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8A4E9C"/>
                </a:solidFill>
                <a:latin typeface="Arial"/>
              </a:rPr>
              <a:t>Г. Линчевский</a:t>
            </a:r>
          </a:p>
        </p:txBody>
      </p:sp>
    </p:spTree>
    <p:extLst>
      <p:ext uri="{BB962C8B-B14F-4D97-AF65-F5344CB8AC3E}">
        <p14:creationId xmlns:p14="http://schemas.microsoft.com/office/powerpoint/2010/main" val="100207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6DDA1CB-C1EB-41BE-A4C6-3A61F0AC3677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Проект «Эпиграфика Древней Руси XI–XV веков»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B288C0A-D0AA-4005-B311-97ACB98EA03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6DFC418-0074-4030-BF09-B95248A1E6D9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04 · </a:t>
            </a:r>
            <a:r>
              <a:rPr sz="1200" b="1" i="0">
                <a:solidFill>
                  <a:srgbClr val="B5812E"/>
                </a:solidFill>
                <a:latin typeface="Arial"/>
                <a:ea typeface="Arial"/>
                <a:cs typeface="Arial"/>
              </a:rPr>
              <a:t>К. Редько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DC77034-1B14-4E8C-A6CE-B31BD5D4FDAD}"/>
              </a:ext>
            </a:extLst>
          </p:cNvPr>
          <p:cNvSpPr>
            <a:spLocks noGrp="1"/>
          </p:cNvSpPr>
          <p:nvPr/>
        </p:nvSpPr>
        <p:spPr>
          <a:xfrm>
            <a:off x="714375" y="1381125"/>
            <a:ext cx="27622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Полевые работы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A6C0B4E-2D7A-4FDA-A9AC-0220F90D2187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2017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337D957-F8FD-48B6-93F4-4E8A2DDBAB21}"/>
              </a:ext>
            </a:extLst>
          </p:cNvPr>
          <p:cNvSpPr>
            <a:spLocks noGrp="1"/>
          </p:cNvSpPr>
          <p:nvPr/>
        </p:nvSpPr>
        <p:spPr>
          <a:xfrm>
            <a:off x="1714500" y="2000250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Можайск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FC0D418F-D6EC-4E44-B111-062320AC2700}"/>
              </a:ext>
            </a:extLst>
          </p:cNvPr>
          <p:cNvSpPr>
            <a:spLocks noGrp="1"/>
          </p:cNvSpPr>
          <p:nvPr/>
        </p:nvSpPr>
        <p:spPr>
          <a:xfrm>
            <a:off x="714375" y="2905125"/>
            <a:ext cx="276225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5EBC66E-560C-444F-A55D-CF0BAB604ABB}"/>
              </a:ext>
            </a:extLst>
          </p:cNvPr>
          <p:cNvSpPr>
            <a:spLocks noGrp="1"/>
          </p:cNvSpPr>
          <p:nvPr/>
        </p:nvSpPr>
        <p:spPr>
          <a:xfrm>
            <a:off x="714375" y="3190875"/>
            <a:ext cx="952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2019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4C75CE4-EA9D-42A4-B83D-20CC3EF4C5B3}"/>
              </a:ext>
            </a:extLst>
          </p:cNvPr>
          <p:cNvSpPr>
            <a:spLocks noGrp="1"/>
          </p:cNvSpPr>
          <p:nvPr/>
        </p:nvSpPr>
        <p:spPr>
          <a:xfrm>
            <a:off x="1714500" y="3095625"/>
            <a:ext cx="2000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макросъёмка в Можайске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0A2A261-3861-4CF8-AE36-1899FC422C93}"/>
              </a:ext>
            </a:extLst>
          </p:cNvPr>
          <p:cNvSpPr>
            <a:spLocks noGrp="1"/>
          </p:cNvSpPr>
          <p:nvPr/>
        </p:nvSpPr>
        <p:spPr>
          <a:xfrm>
            <a:off x="714375" y="4333875"/>
            <a:ext cx="276225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Документирование началось в 2017 году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373C713-7319-441E-A721-49FEE9BA9768}"/>
              </a:ext>
            </a:extLst>
          </p:cNvPr>
          <p:cNvSpPr>
            <a:spLocks noGrp="1"/>
          </p:cNvSpPr>
          <p:nvPr/>
        </p:nvSpPr>
        <p:spPr>
          <a:xfrm>
            <a:off x="4048125" y="12858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Кто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F190964-A672-45CD-8A7F-64B9AB12BCD8}"/>
              </a:ext>
            </a:extLst>
          </p:cNvPr>
          <p:cNvSpPr>
            <a:spLocks noGrp="1"/>
          </p:cNvSpPr>
          <p:nvPr/>
        </p:nvSpPr>
        <p:spPr>
          <a:xfrm>
            <a:off x="6048375" y="12858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Лаборатория RSSDA вместе с А. А. Гиппиусом и С. М. Михеевым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FE3F1E8-B01F-4E4A-AC89-CBD3BF147DE1}"/>
              </a:ext>
            </a:extLst>
          </p:cNvPr>
          <p:cNvSpPr>
            <a:spLocks noGrp="1"/>
          </p:cNvSpPr>
          <p:nvPr/>
        </p:nvSpPr>
        <p:spPr>
          <a:xfrm>
            <a:off x="4048125" y="21621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Роли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B3CA1B8F-D21D-48C8-A027-4A5BE940ED6B}"/>
              </a:ext>
            </a:extLst>
          </p:cNvPr>
          <p:cNvSpPr>
            <a:spLocks noGrp="1"/>
          </p:cNvSpPr>
          <p:nvPr/>
        </p:nvSpPr>
        <p:spPr>
          <a:xfrm>
            <a:off x="6048375" y="21621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Прочтения и прориси: Гиппиус, Михеев. Документирование и 3D: Ю. М. Свойский, Е. В. Романенко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F986CDE-E63D-41B7-B175-6C220E5C9C49}"/>
              </a:ext>
            </a:extLst>
          </p:cNvPr>
          <p:cNvSpPr>
            <a:spLocks noGrp="1"/>
          </p:cNvSpPr>
          <p:nvPr/>
        </p:nvSpPr>
        <p:spPr>
          <a:xfrm>
            <a:off x="4048125" y="30384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26A3FAF-62A6-4317-98B9-DE5050593609}"/>
              </a:ext>
            </a:extLst>
          </p:cNvPr>
          <p:cNvSpPr>
            <a:spLocks noGrp="1"/>
          </p:cNvSpPr>
          <p:nvPr/>
        </p:nvSpPr>
        <p:spPr>
          <a:xfrm>
            <a:off x="6048375" y="30384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Методы, инструменты и процедуры документирования и визуализации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E9C6E27-1EEB-42EF-8EC1-37998FA50CC4}"/>
              </a:ext>
            </a:extLst>
          </p:cNvPr>
          <p:cNvSpPr>
            <a:spLocks noGrp="1"/>
          </p:cNvSpPr>
          <p:nvPr/>
        </p:nvSpPr>
        <p:spPr>
          <a:xfrm>
            <a:off x="4048125" y="3914775"/>
            <a:ext cx="2000250" cy="685800"/>
          </a:xfrm>
          <a:prstGeom prst="rect">
            <a:avLst/>
          </a:prstGeom>
          <a:solidFill>
            <a:srgbClr val="F0E7D8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Миссия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B6AC63B6-88D8-4059-95F7-19598C4DF285}"/>
              </a:ext>
            </a:extLst>
          </p:cNvPr>
          <p:cNvSpPr>
            <a:spLocks noGrp="1"/>
          </p:cNvSpPr>
          <p:nvPr/>
        </p:nvSpPr>
        <p:spPr>
          <a:xfrm>
            <a:off x="6048375" y="3914775"/>
            <a:ext cx="5381625" cy="685800"/>
          </a:xfrm>
          <a:prstGeom prst="rect">
            <a:avLst/>
          </a:prstGeom>
          <a:solidFill>
            <a:srgbClr val="FBF8F1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Сохранить надписи и сделать их доступными для чтения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9613FFA-3785-4BB7-961A-CC7AF29BDCC7}"/>
              </a:ext>
            </a:extLst>
          </p:cNvPr>
          <p:cNvSpPr>
            <a:spLocks noGrp="1"/>
          </p:cNvSpPr>
          <p:nvPr/>
        </p:nvSpPr>
        <p:spPr>
          <a:xfrm>
            <a:off x="4048125" y="4791075"/>
            <a:ext cx="2000250" cy="685800"/>
          </a:xfrm>
          <a:prstGeom prst="rect">
            <a:avLst/>
          </a:prstGeom>
          <a:solidFill>
            <a:srgbClr val="E7DDCC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4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Аудитория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24DBAAA-3F7C-4C65-B8EC-9F4611C2FF85}"/>
              </a:ext>
            </a:extLst>
          </p:cNvPr>
          <p:cNvSpPr>
            <a:spLocks noGrp="1"/>
          </p:cNvSpPr>
          <p:nvPr/>
        </p:nvSpPr>
        <p:spPr>
          <a:xfrm>
            <a:off x="6048375" y="4791075"/>
            <a:ext cx="5381625" cy="685800"/>
          </a:xfrm>
          <a:prstGeom prst="rect">
            <a:avLst/>
          </a:prstGeom>
          <a:solidFill>
            <a:srgbClr val="F5EFE4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Эпиграфисты, историки, филологи, 3D-специалисты, музейщики, читатели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361DAAD-C8D3-4783-8945-DF12351162CF}"/>
              </a:ext>
            </a:extLst>
          </p:cNvPr>
          <p:cNvSpPr>
            <a:spLocks noGrp="1"/>
          </p:cNvSpPr>
          <p:nvPr/>
        </p:nvSpPr>
        <p:spPr>
          <a:xfrm>
            <a:off x="4048125" y="5905500"/>
            <a:ext cx="7381875" cy="190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72222"/>
          </a:bodyPr>
          <a:lstStyle/>
          <a:p>
            <a:pPr algn="l">
              <a:defRPr sz="900" b="0" i="1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1">
                <a:solidFill>
                  <a:srgbClr val="66727A"/>
                </a:solidFill>
                <a:latin typeface="Arial"/>
                <a:ea typeface="Arial"/>
                <a:cs typeface="Arial"/>
              </a:rPr>
              <a:t>Миссия и аудитория сформулированы по содержанию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1462180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Прямоугольник 25">
            <a:extLst>
              <a:ext uri="{FF2B5EF4-FFF2-40B4-BE49-F238E27FC236}">
                <a16:creationId xmlns:a16="http://schemas.microsoft.com/office/drawing/2014/main" id="{B7D39922-D30F-4938-A93E-1765D682898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Источник: древнерусские надписи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BAFF4A3-1CF4-4EC2-A1CA-718B0404F590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DE13843-2435-41CB-BA73-7E809608D5E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05 · </a:t>
            </a:r>
            <a:r>
              <a:rPr sz="1200" b="1" i="0">
                <a:solidFill>
                  <a:srgbClr val="2F6F8F"/>
                </a:solidFill>
                <a:latin typeface="Arial"/>
                <a:ea typeface="Arial"/>
                <a:cs typeface="Arial"/>
              </a:rPr>
              <a:t>Д. Абдульминев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DB7C65-8FB4-4CD1-A044-72198543B25E}"/>
              </a:ext>
            </a:extLst>
          </p:cNvPr>
          <p:cNvSpPr>
            <a:spLocks noGrp="1"/>
          </p:cNvSpPr>
          <p:nvPr/>
        </p:nvSpPr>
        <p:spPr>
          <a:xfrm>
            <a:off x="666750" y="1381125"/>
            <a:ext cx="1619250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529"/>
          </a:bodyPr>
          <a:lstStyle/>
          <a:p>
            <a:pPr algn="ctr">
              <a:def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5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75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F286776-B9F2-425D-96E1-212CF1ED8CD0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1619250" cy="3429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поверхностей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3FC528F-D510-4A0E-9D22-B011B5441E18}"/>
              </a:ext>
            </a:extLst>
          </p:cNvPr>
          <p:cNvSpPr>
            <a:spLocks noGrp="1"/>
          </p:cNvSpPr>
          <p:nvPr/>
        </p:nvSpPr>
        <p:spPr>
          <a:xfrm>
            <a:off x="666750" y="2476500"/>
            <a:ext cx="1619250" cy="266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125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в трёх местах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201E5347-CA3A-4192-9ED6-B91788F59690}"/>
              </a:ext>
            </a:extLst>
          </p:cNvPr>
          <p:cNvSpPr>
            <a:spLocks noGrp="1"/>
          </p:cNvSpPr>
          <p:nvPr/>
        </p:nvSpPr>
        <p:spPr>
          <a:xfrm>
            <a:off x="2619375" y="14763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49E5C09-E4BD-43CE-AE18-376C89B0FC34}"/>
              </a:ext>
            </a:extLst>
          </p:cNvPr>
          <p:cNvSpPr>
            <a:spLocks noGrp="1"/>
          </p:cNvSpPr>
          <p:nvPr/>
        </p:nvSpPr>
        <p:spPr>
          <a:xfrm>
            <a:off x="3048000" y="14001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Великий Новгород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D7EED4C7-13CF-4544-AF34-C9B55F4C2755}"/>
              </a:ext>
            </a:extLst>
          </p:cNvPr>
          <p:cNvSpPr>
            <a:spLocks noGrp="1"/>
          </p:cNvSpPr>
          <p:nvPr/>
        </p:nvSpPr>
        <p:spPr>
          <a:xfrm>
            <a:off x="2619375" y="214312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1BF34D5-2667-463D-944D-3B93A7D04F1F}"/>
              </a:ext>
            </a:extLst>
          </p:cNvPr>
          <p:cNvSpPr>
            <a:spLocks noGrp="1"/>
          </p:cNvSpPr>
          <p:nvPr/>
        </p:nvSpPr>
        <p:spPr>
          <a:xfrm>
            <a:off x="3048000" y="206692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Переславль-Залесский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1267AC5-061D-4C49-B3D2-CD8000F3230D}"/>
              </a:ext>
            </a:extLst>
          </p:cNvPr>
          <p:cNvSpPr>
            <a:spLocks noGrp="1"/>
          </p:cNvSpPr>
          <p:nvPr/>
        </p:nvSpPr>
        <p:spPr>
          <a:xfrm>
            <a:off x="2619375" y="2809875"/>
            <a:ext cx="247650" cy="24765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092CF83-2924-43A0-B25C-36E9ECBF345F}"/>
              </a:ext>
            </a:extLst>
          </p:cNvPr>
          <p:cNvSpPr>
            <a:spLocks noGrp="1"/>
          </p:cNvSpPr>
          <p:nvPr/>
        </p:nvSpPr>
        <p:spPr>
          <a:xfrm>
            <a:off x="3048000" y="2733675"/>
            <a:ext cx="28575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00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Галич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1A809E31-708F-4CBE-8B93-F928E5589558}"/>
              </a:ext>
            </a:extLst>
          </p:cNvPr>
          <p:cNvSpPr>
            <a:spLocks noGrp="1"/>
          </p:cNvSpPr>
          <p:nvPr/>
        </p:nvSpPr>
        <p:spPr>
          <a:xfrm>
            <a:off x="666750" y="3667125"/>
            <a:ext cx="5238750" cy="1714500"/>
          </a:xfrm>
          <a:prstGeom prst="roundRect">
            <a:avLst>
              <a:gd name="adj" fmla="val 10000"/>
            </a:avLst>
          </a:prstGeom>
          <a:solidFill>
            <a:srgbClr val="E9E0CF"/>
          </a:solidFill>
          <a:ln w="0">
            <a:noFill/>
          </a:ln>
        </p:spPr>
        <p:txBody>
          <a:bodyPr/>
          <a:p/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CA03B0B-4C6D-43B2-A390-23D1C088F7AD}"/>
              </a:ext>
            </a:extLst>
          </p:cNvPr>
          <p:cNvSpPr>
            <a:spLocks noGrp="1"/>
          </p:cNvSpPr>
          <p:nvPr/>
        </p:nvSpPr>
        <p:spPr>
          <a:xfrm>
            <a:off x="904875" y="3857625"/>
            <a:ext cx="200025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6212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Дополнительно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3E4F8378-3E7D-4963-B5F2-E8B514E409B3}"/>
              </a:ext>
            </a:extLst>
          </p:cNvPr>
          <p:cNvSpPr>
            <a:spLocks noGrp="1"/>
          </p:cNvSpPr>
          <p:nvPr/>
        </p:nvSpPr>
        <p:spPr>
          <a:xfrm>
            <a:off x="904875" y="4305300"/>
            <a:ext cx="44767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2 плиты-вставки в Можайске</a:t>
            </a:r>
          </a:p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3 памятника в музейных коллекциях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54B85FB-2AEA-4276-9E9C-3DD5BEDE3327}"/>
              </a:ext>
            </a:extLst>
          </p:cNvPr>
          <p:cNvSpPr>
            <a:spLocks noGrp="1"/>
          </p:cNvSpPr>
          <p:nvPr/>
        </p:nvSpPr>
        <p:spPr>
          <a:xfrm>
            <a:off x="6572250" y="147637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1174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63130A08-A1FE-4108-8A0C-05FF81E7E925}"/>
              </a:ext>
            </a:extLst>
          </p:cNvPr>
          <p:cNvSpPr>
            <a:spLocks noGrp="1"/>
          </p:cNvSpPr>
          <p:nvPr/>
        </p:nvSpPr>
        <p:spPr>
          <a:xfrm>
            <a:off x="8048625" y="147637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8112"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Убийство Андрея Боголюбского</a:t>
            </a:r>
          </a:p>
        </p:txBody>
      </p:sp>
      <p:sp>
        <p:nv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1898883C-7145-47F1-8B9D-CDC9A2606813}"/>
              </a:ext>
            </a:extLst>
          </p:cNvPr>
          <p:cNvSpPr>
            <a:spLocks noGrp="1"/>
          </p:cNvSpPr>
          <p:nvPr/>
        </p:nvSpPr>
        <p:spPr>
          <a:xfrm>
            <a:off x="6572250" y="216217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D5F45C4F-C819-4165-BBA0-23542044DF84}"/>
              </a:ext>
            </a:extLst>
          </p:cNvPr>
          <p:cNvSpPr>
            <a:spLocks noGrp="1"/>
          </p:cNvSpPr>
          <p:nvPr/>
        </p:nvSpPr>
        <p:spPr>
          <a:xfrm>
            <a:off x="6572250" y="2667000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9777"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1217 · 1229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2F892B8-AB4D-481D-9FE7-33430673CEA6}"/>
              </a:ext>
            </a:extLst>
          </p:cNvPr>
          <p:cNvSpPr>
            <a:spLocks noGrp="1"/>
          </p:cNvSpPr>
          <p:nvPr/>
        </p:nvSpPr>
        <p:spPr>
          <a:xfrm>
            <a:off x="8048625" y="2667000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Памятные записи о смерти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2CA19B59-E0EC-4EAD-AA5B-CE607837B8AE}"/>
              </a:ext>
            </a:extLst>
          </p:cNvPr>
          <p:cNvSpPr>
            <a:spLocks noGrp="1"/>
          </p:cNvSpPr>
          <p:nvPr/>
        </p:nvSpPr>
        <p:spPr>
          <a:xfrm>
            <a:off x="6572250" y="3352800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4C87D99-26A8-4316-B311-3FEA2C2ED515}"/>
              </a:ext>
            </a:extLst>
          </p:cNvPr>
          <p:cNvSpPr>
            <a:spLocks noGrp="1"/>
          </p:cNvSpPr>
          <p:nvPr/>
        </p:nvSpPr>
        <p:spPr>
          <a:xfrm>
            <a:off x="6572250" y="3857625"/>
            <a:ext cx="147637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1541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B983CA2B-9961-4EB3-88D5-86D032FCF6CF}"/>
              </a:ext>
            </a:extLst>
          </p:cNvPr>
          <p:cNvSpPr>
            <a:spLocks noGrp="1"/>
          </p:cNvSpPr>
          <p:nvPr/>
        </p:nvSpPr>
        <p:spPr>
          <a:xfrm>
            <a:off x="8048625" y="3857625"/>
            <a:ext cx="3333750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Строительство паперти</a:t>
            </a:r>
          </a:p>
        </p:txBody>
      </p:sp>
      <p:sp>
        <p:nvSpPr>
          <p:cNvPr id="24" name="Прямая соединительная линия 23">
            <a:extLst>
              <a:ext uri="{FF2B5EF4-FFF2-40B4-BE49-F238E27FC236}">
                <a16:creationId xmlns:a16="http://schemas.microsoft.com/office/drawing/2014/main" id="{1D60D93F-2E12-414F-B8AC-96591352F8BF}"/>
              </a:ext>
            </a:extLst>
          </p:cNvPr>
          <p:cNvSpPr>
            <a:spLocks noGrp="1"/>
          </p:cNvSpPr>
          <p:nvPr/>
        </p:nvSpPr>
        <p:spPr>
          <a:xfrm>
            <a:off x="6572250" y="4543425"/>
            <a:ext cx="4810125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29CB55A2-02EA-4AC0-90DC-04EEB51D87EF}"/>
              </a:ext>
            </a:extLst>
          </p:cNvPr>
          <p:cNvSpPr>
            <a:spLocks noGrp="1"/>
          </p:cNvSpPr>
          <p:nvPr/>
        </p:nvSpPr>
        <p:spPr>
          <a:xfrm>
            <a:off x="6572250" y="5381625"/>
            <a:ext cx="4810125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450"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Материал: белый камень · штукатурка · мягкий камень</a:t>
            </a:r>
          </a:p>
        </p:txBody>
      </p:sp>
    </p:spTree>
    <p:extLst>
      <p:ext uri="{BB962C8B-B14F-4D97-AF65-F5344CB8AC3E}">
        <p14:creationId xmlns:p14="http://schemas.microsoft.com/office/powerpoint/2010/main" val="155875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00E6B600-F095-4C2F-B6CC-77DF2BE0F6F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Почему это трудно?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9A01878-4EA4-4855-A73F-B07FC8F5DDE5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3ADD9F9D-7C46-4CFD-8659-7F63EECC81E2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06 · </a:t>
            </a:r>
            <a:r>
              <a:rPr sz="1200" b="1" i="0">
                <a:solidFill>
                  <a:srgbClr val="2F6F8F"/>
                </a:solidFill>
                <a:latin typeface="Arial"/>
                <a:ea typeface="Arial"/>
                <a:cs typeface="Arial"/>
              </a:rPr>
              <a:t>Д. Абдульминев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9D8E348-11CA-4820-A9A6-B4520D5114D9}"/>
              </a:ext>
            </a:extLst>
          </p:cNvPr>
          <p:cNvSpPr>
            <a:spLocks noGrp="1"/>
          </p:cNvSpPr>
          <p:nvPr/>
        </p:nvSpPr>
        <p:spPr>
          <a:xfrm>
            <a:off x="8096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  <p:txBody>
          <a:bodyPr/>
          <a:p/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1411A19-CB85-4B93-81CA-C2EA2C0AA47E}"/>
              </a:ext>
            </a:extLst>
          </p:cNvPr>
          <p:cNvSpPr>
            <a:spLocks noGrp="1"/>
          </p:cNvSpPr>
          <p:nvPr/>
        </p:nvSpPr>
        <p:spPr>
          <a:xfrm>
            <a:off x="10477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&lt; 3 мм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3EE4209-46B2-4F62-A85A-E737A0D10573}"/>
              </a:ext>
            </a:extLst>
          </p:cNvPr>
          <p:cNvSpPr>
            <a:spLocks noGrp="1"/>
          </p:cNvSpPr>
          <p:nvPr/>
        </p:nvSpPr>
        <p:spPr>
          <a:xfrm>
            <a:off x="29051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Размер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371FB5-B6DE-46A4-A74E-BCF3FD51FDA6}"/>
              </a:ext>
            </a:extLst>
          </p:cNvPr>
          <p:cNvSpPr>
            <a:spLocks noGrp="1"/>
          </p:cNvSpPr>
          <p:nvPr/>
        </p:nvSpPr>
        <p:spPr>
          <a:xfrm>
            <a:off x="29051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Буквы почти незаметны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0217A4A0-88B6-467F-8839-9DCCFE675A56}"/>
              </a:ext>
            </a:extLst>
          </p:cNvPr>
          <p:cNvSpPr>
            <a:spLocks noGrp="1"/>
          </p:cNvSpPr>
          <p:nvPr/>
        </p:nvSpPr>
        <p:spPr>
          <a:xfrm>
            <a:off x="6334125" y="1381125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  <p:txBody>
          <a:bodyPr/>
          <a:p/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74B0A25-252A-495B-8E28-65E0A786EE9B}"/>
              </a:ext>
            </a:extLst>
          </p:cNvPr>
          <p:cNvSpPr>
            <a:spLocks noGrp="1"/>
          </p:cNvSpPr>
          <p:nvPr/>
        </p:nvSpPr>
        <p:spPr>
          <a:xfrm>
            <a:off x="6572250" y="1571625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0833"/>
          </a:bodyPr>
          <a:lstStyle/>
          <a:p>
            <a:pPr algn="ctr">
              <a:def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2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≤ 0,2–0,3 мм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457CFC8-D26B-4E56-AD2D-92C55A6B3F1B}"/>
              </a:ext>
            </a:extLst>
          </p:cNvPr>
          <p:cNvSpPr>
            <a:spLocks noGrp="1"/>
          </p:cNvSpPr>
          <p:nvPr/>
        </p:nvSpPr>
        <p:spPr>
          <a:xfrm>
            <a:off x="8429625" y="1619250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Глубина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02530A9-E202-40B0-8D04-CAB5158623D0}"/>
              </a:ext>
            </a:extLst>
          </p:cNvPr>
          <p:cNvSpPr>
            <a:spLocks noGrp="1"/>
          </p:cNvSpPr>
          <p:nvPr/>
        </p:nvSpPr>
        <p:spPr>
          <a:xfrm>
            <a:off x="8429625" y="2028825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Царапина сливается с камнем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60B8CDEA-D945-4025-BE4C-634D51F06FE6}"/>
              </a:ext>
            </a:extLst>
          </p:cNvPr>
          <p:cNvSpPr>
            <a:spLocks noGrp="1"/>
          </p:cNvSpPr>
          <p:nvPr/>
        </p:nvSpPr>
        <p:spPr>
          <a:xfrm>
            <a:off x="8096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5DDD1"/>
          </a:solidFill>
          <a:ln w="0">
            <a:noFill/>
          </a:ln>
        </p:spPr>
        <p:txBody>
          <a:bodyPr/>
          <a:p/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DD510326-1EEE-4B17-915A-17043B16F954}"/>
              </a:ext>
            </a:extLst>
          </p:cNvPr>
          <p:cNvSpPr>
            <a:spLocks noGrp="1"/>
          </p:cNvSpPr>
          <p:nvPr/>
        </p:nvSpPr>
        <p:spPr>
          <a:xfrm>
            <a:off x="10477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390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[ ]  ( )  —  …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58AF068-E0EE-470D-BC6C-9E36D7C92D9E}"/>
              </a:ext>
            </a:extLst>
          </p:cNvPr>
          <p:cNvSpPr>
            <a:spLocks noGrp="1"/>
          </p:cNvSpPr>
          <p:nvPr/>
        </p:nvSpPr>
        <p:spPr>
          <a:xfrm>
            <a:off x="29051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Сохранность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E74CEBB6-96AE-47A8-9685-ED5AE6CC2735}"/>
              </a:ext>
            </a:extLst>
          </p:cNvPr>
          <p:cNvSpPr>
            <a:spLocks noGrp="1"/>
          </p:cNvSpPr>
          <p:nvPr/>
        </p:nvSpPr>
        <p:spPr>
          <a:xfrm>
            <a:off x="29051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Часть букв утрачена</a:t>
            </a: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37FA9776-6BE7-4D58-A00F-55AEF19E855A}"/>
              </a:ext>
            </a:extLst>
          </p:cNvPr>
          <p:cNvSpPr>
            <a:spLocks noGrp="1"/>
          </p:cNvSpPr>
          <p:nvPr/>
        </p:nvSpPr>
        <p:spPr>
          <a:xfrm>
            <a:off x="6334125" y="3524250"/>
            <a:ext cx="4953000" cy="1666875"/>
          </a:xfrm>
          <a:prstGeom prst="roundRect">
            <a:avLst>
              <a:gd name="adj" fmla="val 11429"/>
            </a:avLst>
          </a:prstGeom>
          <a:solidFill>
            <a:srgbClr val="EFE5D5"/>
          </a:solidFill>
          <a:ln w="0">
            <a:noFill/>
          </a:ln>
        </p:spPr>
        <p:txBody>
          <a:bodyPr/>
          <a:p/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3E89F962-B6EB-4B38-A3B4-2385DFDCCB9C}"/>
              </a:ext>
            </a:extLst>
          </p:cNvPr>
          <p:cNvSpPr>
            <a:spLocks noGrp="1"/>
          </p:cNvSpPr>
          <p:nvPr/>
        </p:nvSpPr>
        <p:spPr>
          <a:xfrm>
            <a:off x="6572250" y="3714750"/>
            <a:ext cx="1666875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0147"/>
          </a:bodyPr>
          <a:lstStyle/>
          <a:p>
            <a:pPr algn="ctr">
              <a:def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тень ≠ буква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428772F-6A7B-4740-A5E0-078EF8C59A5E}"/>
              </a:ext>
            </a:extLst>
          </p:cNvPr>
          <p:cNvSpPr>
            <a:spLocks noGrp="1"/>
          </p:cNvSpPr>
          <p:nvPr/>
        </p:nvSpPr>
        <p:spPr>
          <a:xfrm>
            <a:off x="8429625" y="3762375"/>
            <a:ext cx="2476500" cy="333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5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Материал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D7EA13E-2969-417A-B9AF-DDC034BAF7FB}"/>
              </a:ext>
            </a:extLst>
          </p:cNvPr>
          <p:cNvSpPr>
            <a:spLocks noGrp="1"/>
          </p:cNvSpPr>
          <p:nvPr/>
        </p:nvSpPr>
        <p:spPr>
          <a:xfrm>
            <a:off x="8429625" y="4171950"/>
            <a:ext cx="24765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Тень легко принять за букву</a:t>
            </a:r>
          </a:p>
        </p:txBody>
      </p:sp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05C14843-D0F2-4129-880A-C80C82632DB1}"/>
              </a:ext>
            </a:extLst>
          </p:cNvPr>
          <p:cNvSpPr>
            <a:spLocks noGrp="1"/>
          </p:cNvSpPr>
          <p:nvPr/>
        </p:nvSpPr>
        <p:spPr>
          <a:xfrm>
            <a:off x="2667000" y="5810250"/>
            <a:ext cx="6858000" cy="476250"/>
          </a:xfrm>
          <a:prstGeom prst="roundRect">
            <a:avLst>
              <a:gd name="adj" fmla="val 36000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 fontScale="88857"/>
          </a:bodyPr>
          <a:lstStyle/>
          <a:p>
            <a:pPr algn="ctr">
              <a:def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Нужно показать не цвет, а рельеф</a:t>
            </a:r>
          </a:p>
        </p:txBody>
      </p:sp>
    </p:spTree>
    <p:extLst>
      <p:ext uri="{BB962C8B-B14F-4D97-AF65-F5344CB8AC3E}">
        <p14:creationId xmlns:p14="http://schemas.microsoft.com/office/powerpoint/2010/main" val="1730917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7DD8751-D642-4A4A-9E98-4DD7226BD114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Как компьютер «видит» надпись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D3C8FB98-BC6A-42B8-BA8A-39C6016C81D1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3540849-CDD2-412B-A30E-6F70F06C1BFB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07 · </a:t>
            </a:r>
            <a:r>
              <a:rPr sz="1200" b="1" i="0">
                <a:solidFill>
                  <a:srgbClr val="2F6F8F"/>
                </a:solidFill>
                <a:latin typeface="Arial"/>
                <a:ea typeface="Arial"/>
                <a:cs typeface="Arial"/>
              </a:rPr>
              <a:t>Д. Абдульминев</a:t>
            </a:r>
            <a:r>
              <a:rPr sz="120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 · Изображения: Лаборатория RSSDA, rssda.su</a:t>
            </a:r>
          </a:p>
        </p:txBody>
      </p:sp>
      <p:pic>
        <p:nvPicPr>
          <p:cNvPr id="34" name="Рисунок 33"/>
          <p:cNvPicPr>
            <a:picLocks noChangeAspect="1"/>
          </p:cNvPicPr>
          <p:nvPr/>
        </p:nvPicPr>
        <p:blipFill>
          <a:blip r:embed="rId3"/>
          <a:srcRect t="1611" b="1611"/>
          <a:stretch>
            <a:fillRect/>
          </a:stretch>
        </p:blipFill>
        <p:spPr>
          <a:xfrm>
            <a:off x="61912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77BAC5-1BCB-400B-B8DF-740AF95F0593}"/>
              </a:ext>
            </a:extLst>
          </p:cNvPr>
          <p:cNvSpPr>
            <a:spLocks noGrp="1"/>
          </p:cNvSpPr>
          <p:nvPr/>
        </p:nvSpPr>
        <p:spPr>
          <a:xfrm>
            <a:off x="61912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Фотография поверхности</a:t>
            </a:r>
          </a:p>
        </p:txBody>
      </p:sp>
      <p:pic>
        <p:nvPicPr>
          <p:cNvPr id="36" name="Рисунок 35"/>
          <p:cNvPicPr>
            <a:picLocks noChangeAspect="1"/>
          </p:cNvPicPr>
          <p:nvPr/>
        </p:nvPicPr>
        <p:blipFill>
          <a:blip r:embed="rId4"/>
          <a:srcRect t="1611" b="1611"/>
          <a:stretch>
            <a:fillRect/>
          </a:stretch>
        </p:blipFill>
        <p:spPr>
          <a:xfrm>
            <a:off x="4476750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D9993FC-9BE4-4018-AA28-B78A39503655}"/>
              </a:ext>
            </a:extLst>
          </p:cNvPr>
          <p:cNvSpPr>
            <a:spLocks noGrp="1"/>
          </p:cNvSpPr>
          <p:nvPr/>
        </p:nvSpPr>
        <p:spPr>
          <a:xfrm>
            <a:off x="4476750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3D-модель и рельеф</a:t>
            </a:r>
          </a:p>
        </p:txBody>
      </p:sp>
      <p:pic>
        <p:nvPicPr>
          <p:cNvPr id="38" name="Рисунок 37"/>
          <p:cNvPicPr>
            <a:picLocks noChangeAspect="1"/>
          </p:cNvPicPr>
          <p:nvPr/>
        </p:nvPicPr>
        <p:blipFill>
          <a:blip r:embed="rId5"/>
          <a:srcRect l="730" r="730"/>
          <a:stretch>
            <a:fillRect/>
          </a:stretch>
        </p:blipFill>
        <p:spPr>
          <a:xfrm>
            <a:off x="8334375" y="1381125"/>
            <a:ext cx="3429000" cy="2190750"/>
          </a:xfrm>
          <a:prstGeom prst="roundRect">
            <a:avLst>
              <a:gd name="adj" fmla="val 6957"/>
            </a:avLst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3066B9B9-0005-48A3-95FE-1072C84AE56E}"/>
              </a:ext>
            </a:extLst>
          </p:cNvPr>
          <p:cNvSpPr>
            <a:spLocks noGrp="1"/>
          </p:cNvSpPr>
          <p:nvPr/>
        </p:nvSpPr>
        <p:spPr>
          <a:xfrm>
            <a:off x="8334375" y="3648075"/>
            <a:ext cx="3429000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Алгоритмическая окраска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4DFBF684-8A74-436A-A561-8AA9995514BA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9838EF0-D4A1-4892-A8FE-2812FD214579}"/>
              </a:ext>
            </a:extLst>
          </p:cNvPr>
          <p:cNvSpPr>
            <a:spLocks noGrp="1"/>
          </p:cNvSpPr>
          <p:nvPr/>
        </p:nvSpPr>
        <p:spPr>
          <a:xfrm>
            <a:off x="5905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30D7EA7-C184-4A53-ADDD-0C26EEE87184}"/>
              </a:ext>
            </a:extLst>
          </p:cNvPr>
          <p:cNvSpPr>
            <a:spLocks noGrp="1"/>
          </p:cNvSpPr>
          <p:nvPr/>
        </p:nvSpPr>
        <p:spPr>
          <a:xfrm>
            <a:off x="11430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100–1000 фото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BD95C34-FF51-44BE-97C8-5B8B06B9E428}"/>
              </a:ext>
            </a:extLst>
          </p:cNvPr>
          <p:cNvSpPr>
            <a:spLocks noGrp="1"/>
          </p:cNvSpPr>
          <p:nvPr/>
        </p:nvSpPr>
        <p:spPr>
          <a:xfrm>
            <a:off x="25908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4" name="Овал 13">
            <a:extLst>
              <a:ext uri="{FF2B5EF4-FFF2-40B4-BE49-F238E27FC236}">
                <a16:creationId xmlns:a16="http://schemas.microsoft.com/office/drawing/2014/main" id="{1974CE84-7752-4791-B65B-EBDFCEDB71DD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ABF2750-8956-4A31-B14F-A71A3F627EB3}"/>
              </a:ext>
            </a:extLst>
          </p:cNvPr>
          <p:cNvSpPr>
            <a:spLocks noGrp="1"/>
          </p:cNvSpPr>
          <p:nvPr/>
        </p:nvSpPr>
        <p:spPr>
          <a:xfrm>
            <a:off x="28956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278152C-8CA5-4FDC-8698-95F228E1C2A9}"/>
              </a:ext>
            </a:extLst>
          </p:cNvPr>
          <p:cNvSpPr>
            <a:spLocks noGrp="1"/>
          </p:cNvSpPr>
          <p:nvPr/>
        </p:nvSpPr>
        <p:spPr>
          <a:xfrm>
            <a:off x="34480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153A3149-50F4-4E2E-A748-8C51708804D9}"/>
              </a:ext>
            </a:extLst>
          </p:cNvPr>
          <p:cNvSpPr>
            <a:spLocks noGrp="1"/>
          </p:cNvSpPr>
          <p:nvPr/>
        </p:nvSpPr>
        <p:spPr>
          <a:xfrm>
            <a:off x="48958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18" name="Овал 17">
            <a:extLst>
              <a:ext uri="{FF2B5EF4-FFF2-40B4-BE49-F238E27FC236}">
                <a16:creationId xmlns:a16="http://schemas.microsoft.com/office/drawing/2014/main" id="{51B49409-DAA1-415E-9BC8-AF7207872A81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F71DD3A0-E7B3-47B2-8129-87D7475027E9}"/>
              </a:ext>
            </a:extLst>
          </p:cNvPr>
          <p:cNvSpPr>
            <a:spLocks noGrp="1"/>
          </p:cNvSpPr>
          <p:nvPr/>
        </p:nvSpPr>
        <p:spPr>
          <a:xfrm>
            <a:off x="52006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1BE5378-95D1-4D56-9F81-16B5E747F553}"/>
              </a:ext>
            </a:extLst>
          </p:cNvPr>
          <p:cNvSpPr>
            <a:spLocks noGrp="1"/>
          </p:cNvSpPr>
          <p:nvPr/>
        </p:nvSpPr>
        <p:spPr>
          <a:xfrm>
            <a:off x="57531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958EEA6A-9360-42BA-9EB7-62F2AA75E1F0}"/>
              </a:ext>
            </a:extLst>
          </p:cNvPr>
          <p:cNvSpPr>
            <a:spLocks noGrp="1"/>
          </p:cNvSpPr>
          <p:nvPr/>
        </p:nvSpPr>
        <p:spPr>
          <a:xfrm>
            <a:off x="720090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04EB9421-4180-4C2F-851A-5D5D3AD91DA7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680D06E0-FCE4-4B71-B65A-50B924BB9DFC}"/>
              </a:ext>
            </a:extLst>
          </p:cNvPr>
          <p:cNvSpPr>
            <a:spLocks noGrp="1"/>
          </p:cNvSpPr>
          <p:nvPr/>
        </p:nvSpPr>
        <p:spPr>
          <a:xfrm>
            <a:off x="750570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8D71121D-BFF9-4BBB-9BBF-4D9425642ECD}"/>
              </a:ext>
            </a:extLst>
          </p:cNvPr>
          <p:cNvSpPr>
            <a:spLocks noGrp="1"/>
          </p:cNvSpPr>
          <p:nvPr/>
        </p:nvSpPr>
        <p:spPr>
          <a:xfrm>
            <a:off x="805815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Окраска рельефа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F3F801A-BD97-414D-ACD5-B45550D6C20A}"/>
              </a:ext>
            </a:extLst>
          </p:cNvPr>
          <p:cNvSpPr>
            <a:spLocks noGrp="1"/>
          </p:cNvSpPr>
          <p:nvPr/>
        </p:nvSpPr>
        <p:spPr>
          <a:xfrm>
            <a:off x="9505950" y="4286250"/>
            <a:ext cx="2667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2064"/>
          </a:bodyPr>
          <a:lstStyle/>
          <a:p>
            <a:pPr algn="ctr">
              <a:defRPr sz="2400" b="0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›</a:t>
            </a: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629D401-73AD-4457-A210-F76B0A6CCBE7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2F25DC35-B4A7-46CD-A115-F0B6195FC28E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4572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4CA6ECFC-7773-4C3D-AE21-BC93D21E889C}"/>
              </a:ext>
            </a:extLst>
          </p:cNvPr>
          <p:cNvSpPr>
            <a:spLocks noGrp="1"/>
          </p:cNvSpPr>
          <p:nvPr/>
        </p:nvSpPr>
        <p:spPr>
          <a:xfrm>
            <a:off x="10363200" y="4267200"/>
            <a:ext cx="15621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3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Чтение учёным</a:t>
            </a: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2EC0EAC5-70BB-4167-9C37-9A4358B7C50E}"/>
              </a:ext>
            </a:extLst>
          </p:cNvPr>
          <p:cNvSpPr>
            <a:spLocks noGrp="1"/>
          </p:cNvSpPr>
          <p:nvPr/>
        </p:nvSpPr>
        <p:spPr>
          <a:xfrm>
            <a:off x="1143000" y="5191125"/>
            <a:ext cx="99060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Фотограмметрия находит одинаковые точки на снимках и восстанавливает форму поверхности</a:t>
            </a: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B6BA30E7-F487-4F9C-9EA0-5ADC175CE342}"/>
              </a:ext>
            </a:extLst>
          </p:cNvPr>
          <p:cNvSpPr>
            <a:spLocks noGrp="1"/>
          </p:cNvSpPr>
          <p:nvPr/>
        </p:nvSpPr>
        <p:spPr>
          <a:xfrm>
            <a:off x="2476500" y="5762625"/>
            <a:ext cx="723900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Компьютер показывает рельеф. Надпись читает исследователь</a:t>
            </a:r>
          </a:p>
        </p:txBody>
      </p:sp>
    </p:spTree>
    <p:extLst>
      <p:ext uri="{BB962C8B-B14F-4D97-AF65-F5344CB8AC3E}">
        <p14:creationId xmlns:p14="http://schemas.microsoft.com/office/powerpoint/2010/main" val="1596629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90473E20-4124-4E5A-BCE1-26C50BB7FC45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Что получает читатель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9AA7328-4814-46B3-A0E7-A985E935C6A7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86F3D98-D4FB-427D-B0C1-5B1A4A6FA64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08 · </a:t>
            </a:r>
            <a:r>
              <a:rPr sz="1200" b="1" i="0">
                <a:solidFill>
                  <a:srgbClr val="2F6F8F"/>
                </a:solidFill>
                <a:latin typeface="Arial"/>
                <a:ea typeface="Arial"/>
                <a:cs typeface="Arial"/>
              </a:rPr>
              <a:t>Д. Абдульминев</a:t>
            </a: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 · Изображения: Лаборатория RSSDA, rssda.su</a:t>
            </a:r>
          </a:p>
        </p:txBody>
      </p:sp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rcRect t="439" b="439"/>
          <a:stretch>
            <a:fillRect/>
          </a:stretch>
        </p:blipFill>
        <p:spPr>
          <a:xfrm>
            <a:off x="66675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7FC7A71-5D19-4AD5-94B0-0E503D8CCC95}"/>
              </a:ext>
            </a:extLst>
          </p:cNvPr>
          <p:cNvSpPr>
            <a:spLocks noGrp="1"/>
          </p:cNvSpPr>
          <p:nvPr/>
        </p:nvSpPr>
        <p:spPr>
          <a:xfrm>
            <a:off x="66675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Прорись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AED87E-A65A-4F69-B2AE-79592B76424D}"/>
              </a:ext>
            </a:extLst>
          </p:cNvPr>
          <p:cNvSpPr>
            <a:spLocks noGrp="1"/>
          </p:cNvSpPr>
          <p:nvPr/>
        </p:nvSpPr>
        <p:spPr>
          <a:xfrm>
            <a:off x="66675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точный контурный рисунок</a:t>
            </a:r>
          </a:p>
        </p:txBody>
      </p:sp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rcRect l="13325" r="13325"/>
          <a:stretch>
            <a:fillRect/>
          </a:stretch>
        </p:blipFill>
        <p:spPr>
          <a:xfrm>
            <a:off x="4429125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463B49E-1FBF-4B43-8692-687E24A097B3}"/>
              </a:ext>
            </a:extLst>
          </p:cNvPr>
          <p:cNvSpPr>
            <a:spLocks noGrp="1"/>
          </p:cNvSpPr>
          <p:nvPr/>
        </p:nvSpPr>
        <p:spPr>
          <a:xfrm>
            <a:off x="4429125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3D-модель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5E2438F4-5839-4CFA-8FE1-8FEAA3AA1E2B}"/>
              </a:ext>
            </a:extLst>
          </p:cNvPr>
          <p:cNvSpPr>
            <a:spLocks noGrp="1"/>
          </p:cNvSpPr>
          <p:nvPr/>
        </p:nvSpPr>
        <p:spPr>
          <a:xfrm>
            <a:off x="4429125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пониженного разрешения</a:t>
            </a:r>
          </a:p>
        </p:txBody>
      </p:sp>
      <p:pic>
        <p:nvPicPr>
          <p:cNvPr id="24" name="Рисунок 23"/>
          <p:cNvPicPr>
            <a:picLocks noChangeAspect="1"/>
          </p:cNvPicPr>
          <p:nvPr/>
        </p:nvPicPr>
        <p:blipFill>
          <a:blip r:embed="rId5"/>
          <a:srcRect l="15025" r="15025"/>
          <a:stretch>
            <a:fillRect/>
          </a:stretch>
        </p:blipFill>
        <p:spPr>
          <a:xfrm>
            <a:off x="8191500" y="1381125"/>
            <a:ext cx="3333750" cy="3000375"/>
          </a:xfrm>
          <a:prstGeom prst="roundRect">
            <a:avLst>
              <a:gd name="adj" fmla="val 5079"/>
            </a:avLst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B38F537-3CF5-4654-A0FE-0F233E395893}"/>
              </a:ext>
            </a:extLst>
          </p:cNvPr>
          <p:cNvSpPr>
            <a:spLocks noGrp="1"/>
          </p:cNvSpPr>
          <p:nvPr/>
        </p:nvSpPr>
        <p:spPr>
          <a:xfrm>
            <a:off x="8191500" y="4524375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725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Карта высот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D76EB32-32E1-4D14-B2B3-55989C9EF5F9}"/>
              </a:ext>
            </a:extLst>
          </p:cNvPr>
          <p:cNvSpPr>
            <a:spLocks noGrp="1"/>
          </p:cNvSpPr>
          <p:nvPr/>
        </p:nvSpPr>
        <p:spPr>
          <a:xfrm>
            <a:off x="8191500" y="4876800"/>
            <a:ext cx="333375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7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растровое изображение рельефа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E227715-B0F4-4B1B-8074-3475A3C3ADB9}"/>
              </a:ext>
            </a:extLst>
          </p:cNvPr>
          <p:cNvSpPr>
            <a:spLocks noGrp="1"/>
          </p:cNvSpPr>
          <p:nvPr/>
        </p:nvSpPr>
        <p:spPr>
          <a:xfrm>
            <a:off x="2000250" y="5476875"/>
            <a:ext cx="8191500" cy="3619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1726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72633"/>
                </a:solidFill>
                <a:latin typeface="Arial"/>
                <a:ea typeface="Arial"/>
                <a:cs typeface="Arial"/>
              </a:rPr>
              <a:t>Чтение сопровождают знаки: [ ]  ( )  —  …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42166C63-2A0E-4701-8E0A-A47CA57517D4}"/>
              </a:ext>
            </a:extLst>
          </p:cNvPr>
          <p:cNvSpPr>
            <a:spLocks noGrp="1"/>
          </p:cNvSpPr>
          <p:nvPr/>
        </p:nvSpPr>
        <p:spPr>
          <a:xfrm>
            <a:off x="2238375" y="5905500"/>
            <a:ext cx="7715250" cy="400050"/>
          </a:xfrm>
          <a:prstGeom prst="roundRect">
            <a:avLst>
              <a:gd name="adj" fmla="val 42857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Прорись, модель и карта высот позволяют сравнить чтение с поверхностью</a:t>
            </a:r>
          </a:p>
        </p:txBody>
      </p:sp>
    </p:spTree>
    <p:extLst>
      <p:ext uri="{BB962C8B-B14F-4D97-AF65-F5344CB8AC3E}">
        <p14:creationId xmlns:p14="http://schemas.microsoft.com/office/powerpoint/2010/main" val="794950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374143F3-39DF-474B-A238-174FF40B4B99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Как меняется взгляд на прошлое?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C1A1D7C-C57B-4266-8091-B7A35AEC0DAA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0C58F7C-0061-4C99-A313-7E145DB4D46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09 · </a:t>
            </a:r>
            <a:r>
              <a:rPr sz="1200" b="1" i="0">
                <a:solidFill>
                  <a:srgbClr val="8A4E9C"/>
                </a:solidFill>
                <a:latin typeface="Arial"/>
                <a:ea typeface="Arial"/>
                <a:cs typeface="Arial"/>
              </a:rPr>
              <a:t>Г. Линчевский</a:t>
            </a: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 · Изображения: Лаборатория RSSDA, rssda.su</a:t>
            </a:r>
          </a:p>
        </p:txBody>
      </p:sp>
      <p:pic>
        <p:nvPicPr>
          <p:cNvPr id="28" name="Рисунок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8591" y="1428750"/>
            <a:ext cx="2809068" cy="2857500"/>
          </a:xfrm>
          <a:prstGeom prst="roundRect">
            <a:avLst>
              <a:gd name="adj" fmla="val 5333"/>
            </a:avLst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C1BF501-CBB3-4965-B1B0-1BF47CB8B0C6}"/>
              </a:ext>
            </a:extLst>
          </p:cNvPr>
          <p:cNvSpPr>
            <a:spLocks noGrp="1"/>
          </p:cNvSpPr>
          <p:nvPr/>
        </p:nvSpPr>
        <p:spPr>
          <a:xfrm>
            <a:off x="714375" y="4524375"/>
            <a:ext cx="2857500" cy="1000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0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Сам источник становится видимым и проверяемым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184CFA6-09DB-4F6B-B62C-CE7C8BEECE9F}"/>
              </a:ext>
            </a:extLst>
          </p:cNvPr>
          <p:cNvSpPr>
            <a:spLocks noGrp="1"/>
          </p:cNvSpPr>
          <p:nvPr/>
        </p:nvSpPr>
        <p:spPr>
          <a:xfrm>
            <a:off x="4191000" y="13335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F4C2A97-69A8-4AFF-B8A9-B1616CBBB2F4}"/>
              </a:ext>
            </a:extLst>
          </p:cNvPr>
          <p:cNvSpPr>
            <a:spLocks noGrp="1"/>
          </p:cNvSpPr>
          <p:nvPr/>
        </p:nvSpPr>
        <p:spPr>
          <a:xfrm>
            <a:off x="4905375" y="13335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Нагляднее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4C81E42-D0A8-40B6-9683-74762EB438D4}"/>
              </a:ext>
            </a:extLst>
          </p:cNvPr>
          <p:cNvSpPr>
            <a:spLocks noGrp="1"/>
          </p:cNvSpPr>
          <p:nvPr/>
        </p:nvSpPr>
        <p:spPr>
          <a:xfrm>
            <a:off x="7191375" y="13335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Видим объём царапины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59ADCBD7-2CD4-49E8-918F-F0F47D044172}"/>
              </a:ext>
            </a:extLst>
          </p:cNvPr>
          <p:cNvSpPr>
            <a:spLocks noGrp="1"/>
          </p:cNvSpPr>
          <p:nvPr/>
        </p:nvSpPr>
        <p:spPr>
          <a:xfrm>
            <a:off x="4905375" y="20002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E6723E0E-16FC-40F5-BF64-33D7C856C350}"/>
              </a:ext>
            </a:extLst>
          </p:cNvPr>
          <p:cNvSpPr>
            <a:spLocks noGrp="1"/>
          </p:cNvSpPr>
          <p:nvPr/>
        </p:nvSpPr>
        <p:spPr>
          <a:xfrm>
            <a:off x="4191000" y="22669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290B5D1-53FB-4E62-925E-47C2564E291A}"/>
              </a:ext>
            </a:extLst>
          </p:cNvPr>
          <p:cNvSpPr>
            <a:spLocks noGrp="1"/>
          </p:cNvSpPr>
          <p:nvPr/>
        </p:nvSpPr>
        <p:spPr>
          <a:xfrm>
            <a:off x="4905375" y="22669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Ближе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EE8C95F-4BD9-491F-B41C-F76F0CEA9FBC}"/>
              </a:ext>
            </a:extLst>
          </p:cNvPr>
          <p:cNvSpPr>
            <a:spLocks noGrp="1"/>
          </p:cNvSpPr>
          <p:nvPr/>
        </p:nvSpPr>
        <p:spPr>
          <a:xfrm>
            <a:off x="7191375" y="22669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«Голоса» людей, оставивших записи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DEBA9E50-808C-4825-A66D-1267EBD74DFB}"/>
              </a:ext>
            </a:extLst>
          </p:cNvPr>
          <p:cNvSpPr>
            <a:spLocks noGrp="1"/>
          </p:cNvSpPr>
          <p:nvPr/>
        </p:nvSpPr>
        <p:spPr>
          <a:xfrm>
            <a:off x="4905375" y="29337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19CDEFD2-256D-41F4-B5D5-3B5F1C18F4A7}"/>
              </a:ext>
            </a:extLst>
          </p:cNvPr>
          <p:cNvSpPr>
            <a:spLocks noGrp="1"/>
          </p:cNvSpPr>
          <p:nvPr/>
        </p:nvSpPr>
        <p:spPr>
          <a:xfrm>
            <a:off x="4191000" y="32004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802FEE59-6975-49F7-8121-912D3428E821}"/>
              </a:ext>
            </a:extLst>
          </p:cNvPr>
          <p:cNvSpPr>
            <a:spLocks noGrp="1"/>
          </p:cNvSpPr>
          <p:nvPr/>
        </p:nvSpPr>
        <p:spPr>
          <a:xfrm>
            <a:off x="4905375" y="32004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Честнее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3074C0-B8D9-4639-B6E6-D8F1CD537CCC}"/>
              </a:ext>
            </a:extLst>
          </p:cNvPr>
          <p:cNvSpPr>
            <a:spLocks noGrp="1"/>
          </p:cNvSpPr>
          <p:nvPr/>
        </p:nvSpPr>
        <p:spPr>
          <a:xfrm>
            <a:off x="7191375" y="32004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[ ] ( ) — … показывают сомнение</a:t>
            </a:r>
          </a:p>
        </p:txBody>
      </p:sp>
      <p:sp>
        <p:nv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66DEA768-6E44-4934-AB32-6DCBCF9333EC}"/>
              </a:ext>
            </a:extLst>
          </p:cNvPr>
          <p:cNvSpPr>
            <a:spLocks noGrp="1"/>
          </p:cNvSpPr>
          <p:nvPr/>
        </p:nvSpPr>
        <p:spPr>
          <a:xfrm>
            <a:off x="4905375" y="386715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F2338617-6C51-4FFF-8B69-DBF89749A53D}"/>
              </a:ext>
            </a:extLst>
          </p:cNvPr>
          <p:cNvSpPr>
            <a:spLocks noGrp="1"/>
          </p:cNvSpPr>
          <p:nvPr/>
        </p:nvSpPr>
        <p:spPr>
          <a:xfrm>
            <a:off x="4191000" y="413385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1CF4D5-E9F5-457D-AB80-9276903DF0D2}"/>
              </a:ext>
            </a:extLst>
          </p:cNvPr>
          <p:cNvSpPr>
            <a:spLocks noGrp="1"/>
          </p:cNvSpPr>
          <p:nvPr/>
        </p:nvSpPr>
        <p:spPr>
          <a:xfrm>
            <a:off x="4905375" y="413385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Сохраннее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CFFC021E-E474-4E7F-AE84-193B05BD986C}"/>
              </a:ext>
            </a:extLst>
          </p:cNvPr>
          <p:cNvSpPr>
            <a:spLocks noGrp="1"/>
          </p:cNvSpPr>
          <p:nvPr/>
        </p:nvSpPr>
        <p:spPr>
          <a:xfrm>
            <a:off x="7191375" y="413385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Цифровая копия фиксирует состояние</a:t>
            </a:r>
          </a:p>
        </p:txBody>
      </p:sp>
      <p:sp>
        <p:nvSpPr>
          <p:cNvPr id="21" name="Прямая соединительная линия 20">
            <a:extLst>
              <a:ext uri="{FF2B5EF4-FFF2-40B4-BE49-F238E27FC236}">
                <a16:creationId xmlns:a16="http://schemas.microsoft.com/office/drawing/2014/main" id="{91D555F1-6514-42BF-9ED4-B7126D49F50B}"/>
              </a:ext>
            </a:extLst>
          </p:cNvPr>
          <p:cNvSpPr>
            <a:spLocks noGrp="1"/>
          </p:cNvSpPr>
          <p:nvPr/>
        </p:nvSpPr>
        <p:spPr>
          <a:xfrm>
            <a:off x="4905375" y="4800600"/>
            <a:ext cx="6096000" cy="0"/>
          </a:xfrm>
          <a:prstGeom prst="line">
            <a:avLst/>
          </a:prstGeom>
          <a:noFill/>
          <a:ln w="9525">
            <a:solidFill>
              <a:srgbClr val="D2C7B6"/>
            </a:solidFill>
          </a:ln>
        </p:spPr>
        <p:txBody>
          <a:bodyPr/>
          <a:p/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249958C-7CBA-4729-A3C8-24DE0C55CC3E}"/>
              </a:ext>
            </a:extLst>
          </p:cNvPr>
          <p:cNvSpPr>
            <a:spLocks noGrp="1"/>
          </p:cNvSpPr>
          <p:nvPr/>
        </p:nvSpPr>
        <p:spPr>
          <a:xfrm>
            <a:off x="4191000" y="5067300"/>
            <a:ext cx="523875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9CE62BDF-76A3-4C5A-88FB-6DBB610E282D}"/>
              </a:ext>
            </a:extLst>
          </p:cNvPr>
          <p:cNvSpPr>
            <a:spLocks noGrp="1"/>
          </p:cNvSpPr>
          <p:nvPr/>
        </p:nvSpPr>
        <p:spPr>
          <a:xfrm>
            <a:off x="4905375" y="5067300"/>
            <a:ext cx="2143125" cy="304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4848"/>
          </a:bodyPr>
          <a:lstStyle/>
          <a:p>
            <a:pPr algn="l">
              <a:def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defRPr>
            </a:pPr>
            <a:r>
              <a:rPr sz="1650" b="1" i="0">
                <a:solidFill>
                  <a:srgbClr val="7A5730"/>
                </a:solidFill>
                <a:latin typeface="Georgia"/>
                <a:ea typeface="Georgia"/>
                <a:cs typeface="Georgia"/>
              </a:rPr>
              <a:t>Проверяемее</a:t>
            </a: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DDC255B7-E3F7-4EDC-93AE-2F7C1225D72A}"/>
              </a:ext>
            </a:extLst>
          </p:cNvPr>
          <p:cNvSpPr>
            <a:spLocks noGrp="1"/>
          </p:cNvSpPr>
          <p:nvPr/>
        </p:nvSpPr>
        <p:spPr>
          <a:xfrm>
            <a:off x="7191375" y="5067300"/>
            <a:ext cx="3810000" cy="457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0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Модель доступна читателю</a:t>
            </a:r>
          </a:p>
        </p:txBody>
      </p:sp>
    </p:spTree>
    <p:extLst>
      <p:ext uri="{BB962C8B-B14F-4D97-AF65-F5344CB8AC3E}">
        <p14:creationId xmlns:p14="http://schemas.microsoft.com/office/powerpoint/2010/main" val="96539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CC2642A-1FE8-4B39-AD3A-EE7F07F991D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Ограничения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3186B2A-9C53-4478-82D8-51E55881B396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8EE66B-4E14-40E2-A3B6-B5D7DF43EA4D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10 · </a:t>
            </a:r>
            <a:r>
              <a:rPr sz="1200" b="1" i="0">
                <a:solidFill>
                  <a:srgbClr val="8A4E9C"/>
                </a:solidFill>
                <a:latin typeface="Arial"/>
                <a:ea typeface="Arial"/>
                <a:cs typeface="Arial"/>
              </a:rPr>
              <a:t>Г. Линчевский</a:t>
            </a: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FB2DE176-63C6-4BB6-83C6-F062EFAB5C77}"/>
              </a:ext>
            </a:extLst>
          </p:cNvPr>
          <p:cNvSpPr>
            <a:spLocks noGrp="1"/>
          </p:cNvSpPr>
          <p:nvPr/>
        </p:nvSpPr>
        <p:spPr>
          <a:xfrm>
            <a:off x="714375" y="1524000"/>
            <a:ext cx="1666875" cy="1666875"/>
          </a:xfrm>
          <a:prstGeom prst="ellipse">
            <a:avLst/>
          </a:prstGeom>
          <a:solidFill>
            <a:srgbClr val="C9A66B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712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!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8C4AF41-F317-4CE8-9196-8676E66B6B33}"/>
              </a:ext>
            </a:extLst>
          </p:cNvPr>
          <p:cNvSpPr>
            <a:spLocks noGrp="1"/>
          </p:cNvSpPr>
          <p:nvPr/>
        </p:nvSpPr>
        <p:spPr>
          <a:xfrm>
            <a:off x="3143250" y="12858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5AF91B1-BF5F-49D8-9276-EE385CB9547B}"/>
              </a:ext>
            </a:extLst>
          </p:cNvPr>
          <p:cNvSpPr>
            <a:spLocks noGrp="1"/>
          </p:cNvSpPr>
          <p:nvPr/>
        </p:nvSpPr>
        <p:spPr>
          <a:xfrm>
            <a:off x="3857625" y="12858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75 поверхностей в трёх местах — малая часть надписей · наша оценка</a:t>
            </a:r>
          </a:p>
        </p:txBody>
      </p:sp>
      <p:sp>
        <p:nv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752736B-82E2-4686-A6EF-39E33BC67D6B}"/>
              </a:ext>
            </a:extLst>
          </p:cNvPr>
          <p:cNvSpPr>
            <a:spLocks noGrp="1"/>
          </p:cNvSpPr>
          <p:nvPr/>
        </p:nvSpPr>
        <p:spPr>
          <a:xfrm>
            <a:off x="3857625" y="19716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1349D7-F5B9-46A3-9289-E016412595C3}"/>
              </a:ext>
            </a:extLst>
          </p:cNvPr>
          <p:cNvSpPr>
            <a:spLocks noGrp="1"/>
          </p:cNvSpPr>
          <p:nvPr/>
        </p:nvSpPr>
        <p:spPr>
          <a:xfrm>
            <a:off x="3143250" y="219075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F90BE75-7E81-4188-A201-250425193147}"/>
              </a:ext>
            </a:extLst>
          </p:cNvPr>
          <p:cNvSpPr>
            <a:spLocks noGrp="1"/>
          </p:cNvSpPr>
          <p:nvPr/>
        </p:nvSpPr>
        <p:spPr>
          <a:xfrm>
            <a:off x="3857625" y="219075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Читают учёные, а не алгоритм</a:t>
            </a:r>
          </a:p>
        </p:txBody>
      </p:sp>
      <p:sp>
        <p:nvSpPr>
          <p:cNvPr id="10" name="Прямая соединительная линия 9">
            <a:extLst>
              <a:ext uri="{FF2B5EF4-FFF2-40B4-BE49-F238E27FC236}">
                <a16:creationId xmlns:a16="http://schemas.microsoft.com/office/drawing/2014/main" id="{A6782253-7F1F-43EA-8B23-8CD5D3DF7002}"/>
              </a:ext>
            </a:extLst>
          </p:cNvPr>
          <p:cNvSpPr>
            <a:spLocks noGrp="1"/>
          </p:cNvSpPr>
          <p:nvPr/>
        </p:nvSpPr>
        <p:spPr>
          <a:xfrm>
            <a:off x="3857625" y="287655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054E9C2-27A3-4227-A9FF-61954C1C820A}"/>
              </a:ext>
            </a:extLst>
          </p:cNvPr>
          <p:cNvSpPr>
            <a:spLocks noGrp="1"/>
          </p:cNvSpPr>
          <p:nvPr/>
        </p:nvSpPr>
        <p:spPr>
          <a:xfrm>
            <a:off x="3143250" y="309562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245E82D-859C-473E-B826-B996137E1156}"/>
              </a:ext>
            </a:extLst>
          </p:cNvPr>
          <p:cNvSpPr>
            <a:spLocks noGrp="1"/>
          </p:cNvSpPr>
          <p:nvPr/>
        </p:nvSpPr>
        <p:spPr>
          <a:xfrm>
            <a:off x="3857625" y="309562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100–1000 снимков на надпись: работа трудоёмкая</a:t>
            </a:r>
          </a:p>
        </p:txBody>
      </p:sp>
      <p:sp>
        <p:nv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31439420-1873-410F-8C2B-5B4656A6217A}"/>
              </a:ext>
            </a:extLst>
          </p:cNvPr>
          <p:cNvSpPr>
            <a:spLocks noGrp="1"/>
          </p:cNvSpPr>
          <p:nvPr/>
        </p:nvSpPr>
        <p:spPr>
          <a:xfrm>
            <a:off x="3857625" y="378142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75D6182-29B1-41ED-9511-2191D0610879}"/>
              </a:ext>
            </a:extLst>
          </p:cNvPr>
          <p:cNvSpPr>
            <a:spLocks noGrp="1"/>
          </p:cNvSpPr>
          <p:nvPr/>
        </p:nvSpPr>
        <p:spPr>
          <a:xfrm>
            <a:off x="3143250" y="4000500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8DC3E37-209A-4827-A352-0D04839F6370}"/>
              </a:ext>
            </a:extLst>
          </p:cNvPr>
          <p:cNvSpPr>
            <a:spLocks noGrp="1"/>
          </p:cNvSpPr>
          <p:nvPr/>
        </p:nvSpPr>
        <p:spPr>
          <a:xfrm>
            <a:off x="3857625" y="4000500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Полный сайт проекта ещё в разработке</a:t>
            </a:r>
          </a:p>
        </p:txBody>
      </p:sp>
      <p:sp>
        <p:nv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3DC96FC-B0C3-4279-8229-9B7F9F2CBDC8}"/>
              </a:ext>
            </a:extLst>
          </p:cNvPr>
          <p:cNvSpPr>
            <a:spLocks noGrp="1"/>
          </p:cNvSpPr>
          <p:nvPr/>
        </p:nvSpPr>
        <p:spPr>
          <a:xfrm>
            <a:off x="3857625" y="4686300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C263770-BA7F-46B9-9434-1DA445BCE080}"/>
              </a:ext>
            </a:extLst>
          </p:cNvPr>
          <p:cNvSpPr>
            <a:spLocks noGrp="1"/>
          </p:cNvSpPr>
          <p:nvPr/>
        </p:nvSpPr>
        <p:spPr>
          <a:xfrm>
            <a:off x="3143250" y="4905375"/>
            <a:ext cx="57150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20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E478F5A-C845-4B01-8B58-299A99F1C102}"/>
              </a:ext>
            </a:extLst>
          </p:cNvPr>
          <p:cNvSpPr>
            <a:spLocks noGrp="1"/>
          </p:cNvSpPr>
          <p:nvPr/>
        </p:nvSpPr>
        <p:spPr>
          <a:xfrm>
            <a:off x="3857625" y="4905375"/>
            <a:ext cx="7239000" cy="609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65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Качество модели зависит от качества съёмки</a:t>
            </a:r>
          </a:p>
        </p:txBody>
      </p:sp>
      <p:sp>
        <p:nvSpPr>
          <p:cNvPr id="19" name="Прямая соединительная линия 18">
            <a:extLst>
              <a:ext uri="{FF2B5EF4-FFF2-40B4-BE49-F238E27FC236}">
                <a16:creationId xmlns:a16="http://schemas.microsoft.com/office/drawing/2014/main" id="{BF36534C-A867-487D-B74A-0EA512CACCE1}"/>
              </a:ext>
            </a:extLst>
          </p:cNvPr>
          <p:cNvSpPr>
            <a:spLocks noGrp="1"/>
          </p:cNvSpPr>
          <p:nvPr/>
        </p:nvSpPr>
        <p:spPr>
          <a:xfrm>
            <a:off x="3857625" y="5591175"/>
            <a:ext cx="723900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11663364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28CC7E19-9921-4948-9BDE-7137B98A59C6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Рекомендуем ли мы проект?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E44116C-E3FE-41FB-8AFC-82B161324B6D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9256CC2-6A8A-4503-9A81-4B823338CF20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11 · </a:t>
            </a:r>
            <a:r>
              <a:rPr sz="1200" b="1" i="0">
                <a:solidFill>
                  <a:srgbClr val="8A4E9C"/>
                </a:solidFill>
                <a:latin typeface="Arial"/>
                <a:ea typeface="Arial"/>
                <a:cs typeface="Arial"/>
              </a:rPr>
              <a:t>Г. Линчевский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76160C7-6BC3-4E7E-AF6D-0D269E2FA87C}"/>
              </a:ext>
            </a:extLst>
          </p:cNvPr>
          <p:cNvSpPr>
            <a:spLocks noGrp="1"/>
          </p:cNvSpPr>
          <p:nvPr/>
        </p:nvSpPr>
        <p:spPr>
          <a:xfrm>
            <a:off x="666750" y="1476375"/>
            <a:ext cx="3143250" cy="2143125"/>
          </a:xfrm>
          <a:prstGeom prst="roundRect">
            <a:avLst>
              <a:gd name="adj" fmla="val 11111"/>
            </a:avLst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78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ДА</a:t>
            </a: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0B9C9500-7E38-462D-ABDD-4724F199E591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6523CA4-4E1D-43E7-8506-ACC3634155E4}"/>
              </a:ext>
            </a:extLst>
          </p:cNvPr>
          <p:cNvSpPr>
            <a:spLocks noGrp="1"/>
          </p:cNvSpPr>
          <p:nvPr/>
        </p:nvSpPr>
        <p:spPr>
          <a:xfrm>
            <a:off x="4476750" y="1428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C68DF4E-31DE-40EF-BEC5-050FFAB52CE9}"/>
              </a:ext>
            </a:extLst>
          </p:cNvPr>
          <p:cNvSpPr>
            <a:spLocks noGrp="1"/>
          </p:cNvSpPr>
          <p:nvPr/>
        </p:nvSpPr>
        <p:spPr>
          <a:xfrm>
            <a:off x="5286375" y="1390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Технология решает конкретную историческую задачу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49E4177C-9E75-4436-A9B9-E81789E46C5E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523875" cy="523875"/>
          </a:xfrm>
          <a:prstGeom prst="ellipse">
            <a:avLst/>
          </a:prstGeom>
          <a:solidFill>
            <a:srgbClr val="7A5730"/>
          </a:solidFill>
          <a:ln w="0">
            <a:noFill/>
          </a:ln>
        </p:spPr>
        <p:txBody>
          <a:bodyPr/>
          <a:p/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684D9163-FDAA-4D13-98EC-734C2DE8D0A7}"/>
              </a:ext>
            </a:extLst>
          </p:cNvPr>
          <p:cNvSpPr>
            <a:spLocks noGrp="1"/>
          </p:cNvSpPr>
          <p:nvPr/>
        </p:nvSpPr>
        <p:spPr>
          <a:xfrm>
            <a:off x="4476750" y="2571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9D3122E-63B1-475C-B867-3747DF688DDA}"/>
              </a:ext>
            </a:extLst>
          </p:cNvPr>
          <p:cNvSpPr>
            <a:spLocks noGrp="1"/>
          </p:cNvSpPr>
          <p:nvPr/>
        </p:nvSpPr>
        <p:spPr>
          <a:xfrm>
            <a:off x="5286375" y="2533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Надписи дополняют летописи и другие книжные источники</a:t>
            </a:r>
          </a:p>
        </p:txBody>
      </p:sp>
      <p:sp>
        <p:nvSpPr>
          <p:cNvPr id="11" name="Овал 10">
            <a:extLst>
              <a:ext uri="{FF2B5EF4-FFF2-40B4-BE49-F238E27FC236}">
                <a16:creationId xmlns:a16="http://schemas.microsoft.com/office/drawing/2014/main" id="{9FD681F6-9FA6-4D93-AAF6-2E64F9AA1B35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523875" cy="523875"/>
          </a:xfrm>
          <a:prstGeom prst="ellipse">
            <a:avLst/>
          </a:prstGeom>
          <a:solidFill>
            <a:srgbClr val="284A62"/>
          </a:solidFill>
          <a:ln w="0">
            <a:noFill/>
          </a:ln>
        </p:spPr>
        <p:txBody>
          <a:bodyPr/>
          <a:p/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96E695E5-4FE9-4F38-BD32-B2FA8D6965CC}"/>
              </a:ext>
            </a:extLst>
          </p:cNvPr>
          <p:cNvSpPr>
            <a:spLocks noGrp="1"/>
          </p:cNvSpPr>
          <p:nvPr/>
        </p:nvSpPr>
        <p:spPr>
          <a:xfrm>
            <a:off x="4476750" y="3714750"/>
            <a:ext cx="523875" cy="523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9FF1C938-5384-465A-A2CA-F366E757EC02}"/>
              </a:ext>
            </a:extLst>
          </p:cNvPr>
          <p:cNvSpPr>
            <a:spLocks noGrp="1"/>
          </p:cNvSpPr>
          <p:nvPr/>
        </p:nvSpPr>
        <p:spPr>
          <a:xfrm>
            <a:off x="5286375" y="3676650"/>
            <a:ext cx="5715000" cy="666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725" b="1" i="0">
                <a:solidFill>
                  <a:srgbClr val="1D252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D252B"/>
                </a:solidFill>
                <a:latin typeface="Arial"/>
                <a:ea typeface="Arial"/>
                <a:cs typeface="Arial"/>
              </a:rPr>
              <a:t>Показаны модель и неуверенность чтения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A61FDF3-A734-43D3-B2E4-2DE347DB5102}"/>
              </a:ext>
            </a:extLst>
          </p:cNvPr>
          <p:cNvSpPr>
            <a:spLocks noGrp="1"/>
          </p:cNvSpPr>
          <p:nvPr/>
        </p:nvSpPr>
        <p:spPr>
          <a:xfrm>
            <a:off x="666750" y="4953000"/>
            <a:ext cx="10334625" cy="666750"/>
          </a:xfrm>
          <a:prstGeom prst="roundRect">
            <a:avLst>
              <a:gd name="adj" fmla="val 25714"/>
            </a:avLst>
          </a:prstGeom>
          <a:solidFill>
            <a:srgbClr val="EEE3D2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500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Минус: без пояснений трудны термины «конъектура», «прорись», «полигональная модель»</a:t>
            </a:r>
          </a:p>
        </p:txBody>
      </p:sp>
    </p:spTree>
    <p:extLst>
      <p:ext uri="{BB962C8B-B14F-4D97-AF65-F5344CB8AC3E}">
        <p14:creationId xmlns:p14="http://schemas.microsoft.com/office/powerpoint/2010/main" val="1874751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B5411989-5160-4DCE-B78D-A5EF9F3F3EDD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Главные выводы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6B39DBF-5F25-417B-BA31-834561D8566E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DB1F5667-290D-4DDA-A366-CD21CCD6E28A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E8E1D5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E8E1D5"/>
                </a:solidFill>
                <a:latin typeface="Arial"/>
                <a:ea typeface="Arial"/>
                <a:cs typeface="Arial"/>
              </a:rPr>
              <a:t>12 · </a:t>
            </a:r>
            <a:r>
              <a:rPr sz="1200" b="1" i="0">
                <a:solidFill>
                  <a:srgbClr val="8A4E9C"/>
                </a:solidFill>
                <a:latin typeface="Arial"/>
                <a:ea typeface="Arial"/>
                <a:cs typeface="Arial"/>
              </a:rPr>
              <a:t>Г. Линчевский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011096F-0A32-4CDB-9FC4-4C92A4383857}"/>
              </a:ext>
            </a:extLst>
          </p:cNvPr>
          <p:cNvSpPr>
            <a:spLocks noGrp="1"/>
          </p:cNvSpPr>
          <p:nvPr/>
        </p:nvSpPr>
        <p:spPr>
          <a:xfrm>
            <a:off x="904875" y="14763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DB63094-B990-453B-BDF7-D4715B6C09E2}"/>
              </a:ext>
            </a:extLst>
          </p:cNvPr>
          <p:cNvSpPr>
            <a:spLocks noGrp="1"/>
          </p:cNvSpPr>
          <p:nvPr/>
        </p:nvSpPr>
        <p:spPr>
          <a:xfrm>
            <a:off x="2524125" y="14763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Граффити — голос обычных людей, но читать их трудно</a:t>
            </a:r>
          </a:p>
        </p:txBody>
      </p:sp>
      <p:sp>
        <p:nv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1BCB26D-5797-4C5A-A834-01CE92496E0C}"/>
              </a:ext>
            </a:extLst>
          </p:cNvPr>
          <p:cNvSpPr>
            <a:spLocks noGrp="1"/>
          </p:cNvSpPr>
          <p:nvPr/>
        </p:nvSpPr>
        <p:spPr>
          <a:xfrm>
            <a:off x="2524125" y="257175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978D7AE-A7EC-41D0-B5B3-219BEF383B0F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9C8A99B-8192-4124-A918-A39A706FD325}"/>
              </a:ext>
            </a:extLst>
          </p:cNvPr>
          <p:cNvSpPr>
            <a:spLocks noGrp="1"/>
          </p:cNvSpPr>
          <p:nvPr/>
        </p:nvSpPr>
        <p:spPr>
          <a:xfrm>
            <a:off x="2524125" y="290512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Фотограмметрия показывает рельеф, а читает учёный</a:t>
            </a:r>
          </a:p>
        </p:txBody>
      </p:sp>
      <p:sp>
        <p:nv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B93C486E-727B-4123-B894-8CB9C57513D2}"/>
              </a:ext>
            </a:extLst>
          </p:cNvPr>
          <p:cNvSpPr>
            <a:spLocks noGrp="1"/>
          </p:cNvSpPr>
          <p:nvPr/>
        </p:nvSpPr>
        <p:spPr>
          <a:xfrm>
            <a:off x="2524125" y="4000500"/>
            <a:ext cx="8477250" cy="0"/>
          </a:xfrm>
          <a:prstGeom prst="line">
            <a:avLst/>
          </a:prstGeom>
          <a:noFill/>
          <a:ln w="9525">
            <a:solidFill>
              <a:srgbClr val="405563"/>
            </a:solidFill>
          </a:ln>
        </p:spPr>
        <p:txBody>
          <a:bodyPr/>
          <a:p/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8B96C51-D784-4F93-93EB-76E5CEA59065}"/>
              </a:ext>
            </a:extLst>
          </p:cNvPr>
          <p:cNvSpPr>
            <a:spLocks noGrp="1"/>
          </p:cNvSpPr>
          <p:nvPr/>
        </p:nvSpPr>
        <p:spPr>
          <a:xfrm>
            <a:off x="904875" y="4333875"/>
            <a:ext cx="1285875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defRPr>
            </a:pPr>
            <a:r>
              <a:rPr sz="4125" b="1" i="0">
                <a:solidFill>
                  <a:srgbClr val="C9A66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A5426103-178C-4740-AE94-2F2F3979B70A}"/>
              </a:ext>
            </a:extLst>
          </p:cNvPr>
          <p:cNvSpPr>
            <a:spLocks noGrp="1"/>
          </p:cNvSpPr>
          <p:nvPr/>
        </p:nvSpPr>
        <p:spPr>
          <a:xfrm>
            <a:off x="2524125" y="4333875"/>
            <a:ext cx="8477250" cy="904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1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Цифровая копия делает прошлое нагляднее и проверяемее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91EBFF8-95C1-408C-BB02-6930B8861CD0}"/>
              </a:ext>
            </a:extLst>
          </p:cNvPr>
          <p:cNvSpPr>
            <a:spLocks noGrp="1"/>
          </p:cNvSpPr>
          <p:nvPr/>
        </p:nvSpPr>
        <p:spPr>
          <a:xfrm>
            <a:off x="3238500" y="5905500"/>
            <a:ext cx="571500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1650" b="1" i="0">
                <a:solidFill>
                  <a:srgbClr val="C9A66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9A66B"/>
                </a:solidFill>
                <a:latin typeface="Arial"/>
                <a:ea typeface="Arial"/>
                <a:cs typeface="Arial"/>
              </a:rPr>
              <a:t>Камера · алгоритм · историк</a:t>
            </a:r>
          </a:p>
        </p:txBody>
      </p:sp>
    </p:spTree>
    <p:extLst>
      <p:ext uri="{BB962C8B-B14F-4D97-AF65-F5344CB8AC3E}">
        <p14:creationId xmlns:p14="http://schemas.microsoft.com/office/powerpoint/2010/main" val="3676727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D6956F1-2698-4209-A9A0-49B5FDB6082C}"/>
              </a:ext>
            </a:extLst>
          </p:cNvPr>
          <p:cNvSpPr>
            <a:spLocks noGrp="1"/>
          </p:cNvSpPr>
          <p:nvPr/>
        </p:nvSpPr>
        <p:spPr>
          <a:xfrm>
            <a:off x="666750" y="333375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25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Вопросы?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1016CF4-C1B7-4BE3-B9A6-446120DB88F4}"/>
              </a:ext>
            </a:extLst>
          </p:cNvPr>
          <p:cNvSpPr>
            <a:spLocks noGrp="1"/>
          </p:cNvSpPr>
          <p:nvPr/>
        </p:nvSpPr>
        <p:spPr>
          <a:xfrm>
            <a:off x="666750" y="990600"/>
            <a:ext cx="819150" cy="47625"/>
          </a:xfrm>
          <a:prstGeom prst="rect">
            <a:avLst/>
          </a:prstGeom>
          <a:solidFill>
            <a:srgbClr val="C9A66B"/>
          </a:solidFill>
          <a:ln w="0">
            <a:noFill/>
          </a:ln>
        </p:spPr>
        <p:txBody>
          <a:bodyPr/>
          <a:p/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08CE7C6-A7EE-4DC2-B6FF-C1C3142D23A8}"/>
              </a:ext>
            </a:extLst>
          </p:cNvPr>
          <p:cNvSpPr>
            <a:spLocks noGrp="1"/>
          </p:cNvSpPr>
          <p:nvPr/>
        </p:nvSpPr>
        <p:spPr>
          <a:xfrm>
            <a:off x="666750" y="6438900"/>
            <a:ext cx="10858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85714"/>
          </a:bodyPr>
          <a:lstStyle/>
          <a:p>
            <a:pPr algn="r">
              <a:defRPr sz="1050" b="0" i="0">
                <a:solidFill>
                  <a:srgbClr val="6672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27A"/>
                </a:solidFill>
                <a:latin typeface="Arial"/>
                <a:ea typeface="Arial"/>
                <a:cs typeface="Arial"/>
              </a:rPr>
              <a:t>13 · </a:t>
            </a:r>
            <a:r>
              <a:rPr sz="1200" b="1" i="0">
                <a:solidFill>
                  <a:srgbClr val="8A4E9C"/>
                </a:solidFill>
                <a:latin typeface="Arial"/>
                <a:ea typeface="Arial"/>
                <a:cs typeface="Arial"/>
              </a:rPr>
              <a:t>Г. Линчевский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7901C73-C7CA-4AAA-8E36-4F237ABF0B2D}"/>
              </a:ext>
            </a:extLst>
          </p:cNvPr>
          <p:cNvSpPr>
            <a:spLocks noGrp="1"/>
          </p:cNvSpPr>
          <p:nvPr/>
        </p:nvSpPr>
        <p:spPr>
          <a:xfrm>
            <a:off x="666750" y="1714500"/>
            <a:ext cx="6191250" cy="762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3150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3150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Спасибо за внимание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8279668-94B1-4925-AD56-BA754FA49FB7}"/>
              </a:ext>
            </a:extLst>
          </p:cNvPr>
          <p:cNvSpPr>
            <a:spLocks noGrp="1"/>
          </p:cNvSpPr>
          <p:nvPr/>
        </p:nvSpPr>
        <p:spPr>
          <a:xfrm>
            <a:off x="666750" y="3476625"/>
            <a:ext cx="61912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275" b="1" i="0">
                <a:solidFill>
                  <a:srgbClr val="7A573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7A5730"/>
                </a:solidFill>
                <a:latin typeface="Arial"/>
                <a:ea typeface="Arial"/>
                <a:cs typeface="Arial"/>
              </a:rPr>
              <a:t>Основной источник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F357754-F93E-47C8-BDA3-83F40BF564B8}"/>
              </a:ext>
            </a:extLst>
          </p:cNvPr>
          <p:cNvSpPr>
            <a:spLocks noGrp="1"/>
          </p:cNvSpPr>
          <p:nvPr/>
        </p:nvSpPr>
        <p:spPr>
          <a:xfrm>
            <a:off x="666750" y="3857625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defRPr>
            </a:pPr>
            <a:r>
              <a:rPr sz="1875" b="1" i="0">
                <a:solidFill>
                  <a:srgbClr val="172633"/>
                </a:solidFill>
                <a:latin typeface="Georgia"/>
                <a:ea typeface="Georgia"/>
                <a:cs typeface="Georgia"/>
              </a:rPr>
              <a:t>Эпиграфика Древней Руси XI–XV веков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2B50364-1281-43F3-8F46-B74760ED37B5}"/>
              </a:ext>
            </a:extLst>
          </p:cNvPr>
          <p:cNvSpPr>
            <a:spLocks noGrp="1"/>
          </p:cNvSpPr>
          <p:nvPr/>
        </p:nvSpPr>
        <p:spPr>
          <a:xfrm>
            <a:off x="666750" y="4362450"/>
            <a:ext cx="6191250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Лаборатория RSSDA</a:t>
            </a:r>
          </a:p>
          <a:p>
            <a:pPr algn="l">
              <a:defRPr sz="1425" b="1" i="0">
                <a:solidFill>
                  <a:srgbClr val="284A6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84A62"/>
                </a:solidFill>
                <a:latin typeface="Arial"/>
                <a:ea typeface="Arial"/>
                <a:cs typeface="Arial"/>
              </a:rPr>
              <a:t>https://rssda.su/projects/ep-rus/</a:t>
            </a:r>
          </a:p>
        </p:txBody>
      </p:sp>
      <p:sp>
        <p:nvSpPr>
          <p:cNvPr id="8" name="Овал 7">
            <a:extLst>
              <a:ext uri="{FF2B5EF4-FFF2-40B4-BE49-F238E27FC236}">
                <a16:creationId xmlns:a16="http://schemas.microsoft.com/office/drawing/2014/main" id="{795A669A-B477-4693-B2EA-DD774D9FDD4E}"/>
              </a:ext>
            </a:extLst>
          </p:cNvPr>
          <p:cNvSpPr>
            <a:spLocks noGrp="1"/>
          </p:cNvSpPr>
          <p:nvPr/>
        </p:nvSpPr>
        <p:spPr>
          <a:xfrm>
            <a:off x="7858125" y="1571625"/>
            <a:ext cx="3333750" cy="3333750"/>
          </a:xfrm>
          <a:prstGeom prst="ellipse">
            <a:avLst/>
          </a:prstGeom>
          <a:solidFill>
            <a:srgbClr val="172633"/>
          </a:solidFill>
          <a:ln w="0">
            <a:noFill/>
          </a:ln>
        </p:spPr>
        <p:txBody>
          <a:bodyPr anchor="ctr">
            <a:normAutofit/>
          </a:bodyPr>
          <a:lstStyle/>
          <a:p>
            <a:pPr algn="ctr">
              <a:defRPr sz="937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937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9072986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Epigraphy">
      <a:dk1>
        <a:srgbClr val="000000"/>
      </a:dk1>
      <a:lt1>
        <a:srgbClr val="FFFFFF"/>
      </a:lt1>
      <a:dk2>
        <a:srgbClr val="172633"/>
      </a:dk2>
      <a:lt2>
        <a:srgbClr val="F7F3EA"/>
      </a:lt2>
      <a:accent1>
        <a:srgbClr val="C9A66B"/>
      </a:accent1>
      <a:accent2>
        <a:srgbClr val="284A62"/>
      </a:accent2>
      <a:accent3>
        <a:srgbClr val="7A5730"/>
      </a:accent3>
      <a:accent4>
        <a:srgbClr val="284A62"/>
      </a:accent4>
      <a:accent5>
        <a:srgbClr val="7A6B58"/>
      </a:accent5>
      <a:accent6>
        <a:srgbClr val="8799A4"/>
      </a:accent6>
      <a:hlink>
        <a:srgbClr val="2F6690"/>
      </a:hlink>
      <a:folHlink>
        <a:srgbClr val="6D4C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Epigraphy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2667</Words>
  <Application>Microsoft Office PowerPoint</Application>
  <DocSecurity>0</DocSecurity>
  <PresentationFormat>Широкоэкранный</PresentationFormat>
  <Paragraphs>265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Aptos</vt:lpstr>
      <vt:lpstr>Arial</vt:lpstr>
      <vt:lpstr>Georgia</vt:lpstr>
      <vt:lpstr>ChatGPT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 цифровые технологии помогают читать исторические источники? Древнерусские граффити — 01.10.26, 9:50</dc:title>
  <dc:creator>Walnut Exporter</dc:creator>
  <cp:lastModifiedBy>Георгий Линчевский</cp:lastModifiedBy>
  <cp:revision>1</cp:revision>
  <dcterms:created xsi:type="dcterms:W3CDTF">2026-09-29T19:36:17Z</dcterms:created>
  <dcterms:modified xsi:type="dcterms:W3CDTF">2026-09-29T19:51:17Z</dcterms:modified>
</cp:coreProperties>
</file>